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5" r:id="rId3"/>
    <p:sldId id="266" r:id="rId4"/>
    <p:sldId id="281" r:id="rId5"/>
    <p:sldId id="293" r:id="rId6"/>
    <p:sldId id="287" r:id="rId7"/>
    <p:sldId id="290" r:id="rId8"/>
    <p:sldId id="291" r:id="rId9"/>
    <p:sldId id="309" r:id="rId10"/>
    <p:sldId id="312" r:id="rId11"/>
    <p:sldId id="292" r:id="rId12"/>
    <p:sldId id="310" r:id="rId13"/>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30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59" autoAdjust="0"/>
    <p:restoredTop sz="94660"/>
  </p:normalViewPr>
  <p:slideViewPr>
    <p:cSldViewPr>
      <p:cViewPr varScale="1">
        <p:scale>
          <a:sx n="107" d="100"/>
          <a:sy n="107" d="100"/>
        </p:scale>
        <p:origin x="1854" y="78"/>
      </p:cViewPr>
      <p:guideLst>
        <p:guide orient="horz" pos="2119"/>
        <p:guide pos="3168"/>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0E0BD64F-1849-4F10-8920-2BA7B10B78F9}" type="datetimeFigureOut">
              <a:rPr lang="zh-CN" altLang="en-US"/>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B88A712B-7ABF-4FF1-A424-6240FC14DBA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5424FA3F-A1C0-4E3F-A769-41C14D72E77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41B6FA00-D0E5-4D7A-8663-9143F61863C4}"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65ABC10C-0029-48F9-9C5F-2932B1565588}"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DC2D4D3-A287-4290-9430-147BBA182D8F}"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lvl1pPr>
              <a:defRPr/>
            </a:lvl1pPr>
          </a:lstStyle>
          <a:p>
            <a:pPr>
              <a:defRPr/>
            </a:pPr>
            <a:fld id="{33B27CB9-0EC7-4A50-BB37-AE0871CBA4F3}"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809C769-81EB-4E14-AD38-6668D08EEBF5}"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71487" y="1825625"/>
            <a:ext cx="2900363"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3486150" y="1825625"/>
            <a:ext cx="2900363"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43AC8098-AF55-44C1-A6DF-5B32E83CB6E3}"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1846EC72-8E7A-46E9-9659-35A4EFDADEDF}"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C8F7E68A-943D-405F-A497-5E98D3E8C94D}"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1EA8AF73-9AED-40BD-AA82-63CE027A2DB0}"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16E50ED2-07F8-404A-98CC-682DA77559F1}"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6449064D-7CEF-4749-9403-03195502EDAA}"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0977FDD-1F73-4F46-9B3D-589ADA060359}"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A2D8D5C2-92A0-4083-8573-EEEAADB4325B}"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fld id="{1C4DA1C7-1DC7-47BC-93A8-4868665E47AE}"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3AA70B5-69D1-47D3-B2BE-8736A7C47049}"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3"/>
          <p:cNvSpPr>
            <a:spLocks noGrp="1"/>
          </p:cNvSpPr>
          <p:nvPr>
            <p:ph type="dt" sz="half" idx="10"/>
          </p:nvPr>
        </p:nvSpPr>
        <p:spPr/>
        <p:txBody>
          <a:bodyPr/>
          <a:lstStyle>
            <a:lvl1pPr>
              <a:defRPr/>
            </a:lvl1pPr>
          </a:lstStyle>
          <a:p>
            <a:pPr>
              <a:defRPr/>
            </a:pPr>
            <a:fld id="{19FBA601-6A85-42A6-9BBF-6370F5EE61B2}"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B682BB0-218E-42B1-A220-E245259A9298}"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E823708A-A4FF-48C0-A3B0-0906C6411257}"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95249E8-711A-475B-A83B-4606B5FB154C}"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907757" y="365125"/>
            <a:ext cx="1478756"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71488" y="365125"/>
            <a:ext cx="4321969"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02533C06-F377-41AC-AC27-904B06CAD7E4}"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A47E2E6-E176-44F8-ACC8-31A139834FAF}" type="slidenum">
              <a:rPr lang="zh-CN" altLang="en-US"/>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46000">
              <a:schemeClr val="bg1">
                <a:lumMod val="95000"/>
              </a:schemeClr>
            </a:gs>
            <a:gs pos="100000">
              <a:schemeClr val="bg1">
                <a:lumMod val="85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28650" y="365125"/>
            <a:ext cx="7886700" cy="1325563"/>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1027" name="文本占位符 2"/>
          <p:cNvSpPr>
            <a:spLocks noGrp="1"/>
          </p:cNvSpPr>
          <p:nvPr>
            <p:ph type="body" idx="1"/>
          </p:nvPr>
        </p:nvSpPr>
        <p:spPr bwMode="auto">
          <a:xfrm>
            <a:off x="628650" y="1825625"/>
            <a:ext cx="7886700" cy="4351338"/>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pPr>
              <a:defRPr/>
            </a:pPr>
            <a:fld id="{1815BF1C-1089-44C8-9560-63ABA38BACD1}" type="datetimeFigureOut">
              <a:rPr lang="zh-CN" altLang="en-US"/>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pPr>
              <a:defRPr/>
            </a:pPr>
            <a:fld id="{D200E405-6593-432E-BFE6-4C70A6AF0B8A}"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a:ea typeface="宋体" charset="-122"/>
        </a:defRPr>
      </a:lvl2pPr>
      <a:lvl3pPr algn="l" rtl="0" fontAlgn="base">
        <a:lnSpc>
          <a:spcPct val="90000"/>
        </a:lnSpc>
        <a:spcBef>
          <a:spcPct val="0"/>
        </a:spcBef>
        <a:spcAft>
          <a:spcPct val="0"/>
        </a:spcAft>
        <a:defRPr sz="4400">
          <a:solidFill>
            <a:schemeClr val="tx1"/>
          </a:solidFill>
          <a:latin typeface="Calibri Light"/>
          <a:ea typeface="宋体" charset="-122"/>
        </a:defRPr>
      </a:lvl3pPr>
      <a:lvl4pPr algn="l" rtl="0" fontAlgn="base">
        <a:lnSpc>
          <a:spcPct val="90000"/>
        </a:lnSpc>
        <a:spcBef>
          <a:spcPct val="0"/>
        </a:spcBef>
        <a:spcAft>
          <a:spcPct val="0"/>
        </a:spcAft>
        <a:defRPr sz="4400">
          <a:solidFill>
            <a:schemeClr val="tx1"/>
          </a:solidFill>
          <a:latin typeface="Calibri Light"/>
          <a:ea typeface="宋体" charset="-122"/>
        </a:defRPr>
      </a:lvl4pPr>
      <a:lvl5pPr algn="l" rtl="0" fontAlgn="base">
        <a:lnSpc>
          <a:spcPct val="90000"/>
        </a:lnSpc>
        <a:spcBef>
          <a:spcPct val="0"/>
        </a:spcBef>
        <a:spcAft>
          <a:spcPct val="0"/>
        </a:spcAft>
        <a:defRPr sz="4400">
          <a:solidFill>
            <a:schemeClr val="tx1"/>
          </a:solidFill>
          <a:latin typeface="Calibri Light"/>
          <a:ea typeface="宋体" charset="-122"/>
        </a:defRPr>
      </a:lvl5pPr>
      <a:lvl6pPr marL="457200" algn="l" rtl="0" fontAlgn="base">
        <a:lnSpc>
          <a:spcPct val="90000"/>
        </a:lnSpc>
        <a:spcBef>
          <a:spcPct val="0"/>
        </a:spcBef>
        <a:spcAft>
          <a:spcPct val="0"/>
        </a:spcAft>
        <a:defRPr sz="4400">
          <a:solidFill>
            <a:schemeClr val="tx1"/>
          </a:solidFill>
          <a:latin typeface="Calibri Light"/>
          <a:ea typeface="宋体" charset="-122"/>
        </a:defRPr>
      </a:lvl6pPr>
      <a:lvl7pPr marL="914400" algn="l" rtl="0" fontAlgn="base">
        <a:lnSpc>
          <a:spcPct val="90000"/>
        </a:lnSpc>
        <a:spcBef>
          <a:spcPct val="0"/>
        </a:spcBef>
        <a:spcAft>
          <a:spcPct val="0"/>
        </a:spcAft>
        <a:defRPr sz="4400">
          <a:solidFill>
            <a:schemeClr val="tx1"/>
          </a:solidFill>
          <a:latin typeface="Calibri Light"/>
          <a:ea typeface="宋体" charset="-122"/>
        </a:defRPr>
      </a:lvl7pPr>
      <a:lvl8pPr marL="1371600" algn="l" rtl="0" fontAlgn="base">
        <a:lnSpc>
          <a:spcPct val="90000"/>
        </a:lnSpc>
        <a:spcBef>
          <a:spcPct val="0"/>
        </a:spcBef>
        <a:spcAft>
          <a:spcPct val="0"/>
        </a:spcAft>
        <a:defRPr sz="4400">
          <a:solidFill>
            <a:schemeClr val="tx1"/>
          </a:solidFill>
          <a:latin typeface="Calibri Light"/>
          <a:ea typeface="宋体" charset="-122"/>
        </a:defRPr>
      </a:lvl8pPr>
      <a:lvl9pPr marL="1828800" algn="l" rtl="0" fontAlgn="base">
        <a:lnSpc>
          <a:spcPct val="90000"/>
        </a:lnSpc>
        <a:spcBef>
          <a:spcPct val="0"/>
        </a:spcBef>
        <a:spcAft>
          <a:spcPct val="0"/>
        </a:spcAft>
        <a:defRPr sz="4400">
          <a:solidFill>
            <a:schemeClr val="tx1"/>
          </a:solidFill>
          <a:latin typeface="Calibri Light"/>
          <a:ea typeface="宋体" charset="-122"/>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2065" y="-12700"/>
            <a:ext cx="9144000" cy="3654425"/>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 name="TextBox 89"/>
          <p:cNvSpPr txBox="1"/>
          <p:nvPr/>
        </p:nvSpPr>
        <p:spPr>
          <a:xfrm>
            <a:off x="5259070" y="5080000"/>
            <a:ext cx="3705225" cy="826135"/>
          </a:xfrm>
          <a:prstGeom prst="rect">
            <a:avLst/>
          </a:prstGeom>
          <a:noFill/>
        </p:spPr>
        <p:txBody>
          <a:bodyPr wrap="square">
            <a:spAutoFit/>
          </a:bodyPr>
          <a:lstStyle/>
          <a:p>
            <a:pPr algn="r" fontAlgn="auto">
              <a:spcBef>
                <a:spcPts val="0"/>
              </a:spcBef>
              <a:spcAft>
                <a:spcPts val="0"/>
              </a:spcAft>
              <a:defRPr/>
            </a:pPr>
            <a:endParaRPr lang="zh-CN" altLang="en-US" sz="2400" b="1" dirty="0">
              <a:solidFill>
                <a:schemeClr val="tx1">
                  <a:lumMod val="75000"/>
                  <a:lumOff val="25000"/>
                </a:schemeClr>
              </a:solidFill>
              <a:latin typeface="+mn-lt"/>
              <a:ea typeface="华文楷体" pitchFamily="2" charset="-122"/>
            </a:endParaRPr>
          </a:p>
          <a:p>
            <a:pPr algn="r" fontAlgn="auto">
              <a:spcBef>
                <a:spcPts val="0"/>
              </a:spcBef>
              <a:spcAft>
                <a:spcPts val="0"/>
              </a:spcAft>
              <a:defRPr/>
            </a:pPr>
            <a:r>
              <a:rPr lang="zh-CN" altLang="en-US" sz="2400" b="1" dirty="0">
                <a:solidFill>
                  <a:schemeClr val="tx1">
                    <a:lumMod val="75000"/>
                    <a:lumOff val="25000"/>
                  </a:schemeClr>
                </a:solidFill>
                <a:latin typeface="+mn-lt"/>
                <a:ea typeface="华文楷体" pitchFamily="2" charset="-122"/>
              </a:rPr>
              <a:t>徐梓译毕业论文答辩</a:t>
            </a:r>
            <a:endParaRPr lang="zh-CN" altLang="en-US" sz="2400" b="1" dirty="0">
              <a:solidFill>
                <a:schemeClr val="tx1">
                  <a:lumMod val="75000"/>
                  <a:lumOff val="25000"/>
                </a:schemeClr>
              </a:solidFill>
              <a:latin typeface="+mn-lt"/>
              <a:ea typeface="华文楷体" pitchFamily="2" charset="-122"/>
            </a:endParaRPr>
          </a:p>
        </p:txBody>
      </p:sp>
      <p:cxnSp>
        <p:nvCxnSpPr>
          <p:cNvPr id="4" name="直接连接符 3"/>
          <p:cNvCxnSpPr/>
          <p:nvPr/>
        </p:nvCxnSpPr>
        <p:spPr>
          <a:xfrm>
            <a:off x="7058025" y="4989513"/>
            <a:ext cx="1812925"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 name="TextBox 5"/>
          <p:cNvSpPr txBox="1"/>
          <p:nvPr/>
        </p:nvSpPr>
        <p:spPr>
          <a:xfrm>
            <a:off x="4343400" y="3881438"/>
            <a:ext cx="4635500" cy="1066800"/>
          </a:xfrm>
          <a:prstGeom prst="rect">
            <a:avLst/>
          </a:prstGeom>
          <a:noFill/>
        </p:spPr>
        <p:txBody>
          <a:bodyPr wrap="none">
            <a:spAutoFit/>
          </a:bodyPr>
          <a:lstStyle/>
          <a:p>
            <a:pPr algn="r" fontAlgn="auto">
              <a:spcBef>
                <a:spcPts val="0"/>
              </a:spcBef>
              <a:spcAft>
                <a:spcPts val="0"/>
              </a:spcAft>
              <a:defRPr/>
            </a:pPr>
            <a:r>
              <a:rPr lang="zh-CN" sz="3200" b="1" dirty="0">
                <a:solidFill>
                  <a:schemeClr val="tx1">
                    <a:lumMod val="75000"/>
                    <a:lumOff val="25000"/>
                  </a:schemeClr>
                </a:solidFill>
                <a:latin typeface="华文楷体" pitchFamily="2" charset="-122"/>
                <a:ea typeface="华文楷体" pitchFamily="2" charset="-122"/>
              </a:rPr>
              <a:t>基于</a:t>
            </a:r>
            <a:r>
              <a:rPr lang="en-US" altLang="zh-CN" sz="3200" b="1" dirty="0">
                <a:solidFill>
                  <a:schemeClr val="tx1">
                    <a:lumMod val="75000"/>
                    <a:lumOff val="25000"/>
                  </a:schemeClr>
                </a:solidFill>
                <a:latin typeface="华文楷体" pitchFamily="2" charset="-122"/>
                <a:ea typeface="华文楷体" pitchFamily="2" charset="-122"/>
              </a:rPr>
              <a:t>51</a:t>
            </a:r>
            <a:r>
              <a:rPr lang="zh-CN" altLang="en-US" sz="3200" b="1" dirty="0">
                <a:solidFill>
                  <a:schemeClr val="tx1">
                    <a:lumMod val="75000"/>
                    <a:lumOff val="25000"/>
                  </a:schemeClr>
                </a:solidFill>
                <a:latin typeface="华文楷体" pitchFamily="2" charset="-122"/>
                <a:ea typeface="华文楷体" pitchFamily="2" charset="-122"/>
              </a:rPr>
              <a:t>单片机的智能小车</a:t>
            </a:r>
            <a:endParaRPr lang="zh-CN" altLang="en-US" sz="3200" b="1" dirty="0">
              <a:solidFill>
                <a:schemeClr val="tx1">
                  <a:lumMod val="75000"/>
                  <a:lumOff val="25000"/>
                </a:schemeClr>
              </a:solidFill>
              <a:latin typeface="华文楷体" pitchFamily="2" charset="-122"/>
              <a:ea typeface="华文楷体" pitchFamily="2" charset="-122"/>
            </a:endParaRPr>
          </a:p>
          <a:p>
            <a:pPr algn="r" fontAlgn="auto">
              <a:spcBef>
                <a:spcPts val="0"/>
              </a:spcBef>
              <a:spcAft>
                <a:spcPts val="0"/>
              </a:spcAft>
              <a:defRPr/>
            </a:pPr>
            <a:r>
              <a:rPr lang="zh-CN" altLang="en-US" sz="3200" b="1" dirty="0">
                <a:solidFill>
                  <a:schemeClr val="tx1">
                    <a:lumMod val="75000"/>
                    <a:lumOff val="25000"/>
                  </a:schemeClr>
                </a:solidFill>
                <a:latin typeface="华文楷体" pitchFamily="2" charset="-122"/>
                <a:ea typeface="华文楷体" pitchFamily="2" charset="-122"/>
              </a:rPr>
              <a:t>设计与实现</a:t>
            </a:r>
            <a:endParaRPr lang="zh-CN" altLang="en-US" sz="3200" b="1" dirty="0">
              <a:solidFill>
                <a:schemeClr val="tx1">
                  <a:lumMod val="75000"/>
                  <a:lumOff val="25000"/>
                </a:schemeClr>
              </a:solidFill>
              <a:latin typeface="华文楷体" pitchFamily="2" charset="-122"/>
              <a:ea typeface="华文楷体" pitchFamily="2" charset="-122"/>
            </a:endParaRPr>
          </a:p>
        </p:txBody>
      </p:sp>
      <p:sp>
        <p:nvSpPr>
          <p:cNvPr id="10" name="矩形 9"/>
          <p:cNvSpPr/>
          <p:nvPr/>
        </p:nvSpPr>
        <p:spPr>
          <a:xfrm>
            <a:off x="163513" y="6210300"/>
            <a:ext cx="423862" cy="423863"/>
          </a:xfrm>
          <a:prstGeom prst="rect">
            <a:avLst/>
          </a:prstGeom>
          <a:solidFill>
            <a:srgbClr val="5C307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TextBox 90"/>
          <p:cNvSpPr txBox="1"/>
          <p:nvPr/>
        </p:nvSpPr>
        <p:spPr>
          <a:xfrm>
            <a:off x="1139825" y="5888038"/>
            <a:ext cx="7731125" cy="969010"/>
          </a:xfrm>
          <a:prstGeom prst="rect">
            <a:avLst/>
          </a:prstGeom>
          <a:noFill/>
        </p:spPr>
        <p:txBody>
          <a:bodyPr>
            <a:spAutoFit/>
          </a:bodyPr>
          <a:lstStyle/>
          <a:p>
            <a:pPr algn="r" fontAlgn="auto">
              <a:lnSpc>
                <a:spcPct val="120000"/>
              </a:lnSpc>
              <a:spcBef>
                <a:spcPts val="0"/>
              </a:spcBef>
              <a:spcAft>
                <a:spcPts val="0"/>
              </a:spcAft>
              <a:defRPr/>
            </a:pPr>
            <a:r>
              <a:rPr lang="zh-CN" sz="2400" dirty="0">
                <a:solidFill>
                  <a:schemeClr val="tx1">
                    <a:lumMod val="75000"/>
                    <a:lumOff val="25000"/>
                  </a:schemeClr>
                </a:solidFill>
                <a:latin typeface="华文楷体" pitchFamily="2" charset="-122"/>
                <a:ea typeface="华文楷体" pitchFamily="2" charset="-122"/>
              </a:rPr>
              <a:t>软件学院</a:t>
            </a:r>
            <a:r>
              <a:rPr lang="en-US" altLang="zh-CN" sz="2400" dirty="0">
                <a:solidFill>
                  <a:schemeClr val="tx1">
                    <a:lumMod val="75000"/>
                    <a:lumOff val="25000"/>
                  </a:schemeClr>
                </a:solidFill>
                <a:latin typeface="华文楷体" pitchFamily="2" charset="-122"/>
                <a:ea typeface="华文楷体" pitchFamily="2" charset="-122"/>
              </a:rPr>
              <a:t>——</a:t>
            </a:r>
            <a:r>
              <a:rPr lang="zh-CN" altLang="en-US" sz="2400" dirty="0">
                <a:solidFill>
                  <a:schemeClr val="tx1">
                    <a:lumMod val="75000"/>
                    <a:lumOff val="25000"/>
                  </a:schemeClr>
                </a:solidFill>
                <a:latin typeface="华文楷体" pitchFamily="2" charset="-122"/>
                <a:ea typeface="华文楷体" pitchFamily="2" charset="-122"/>
              </a:rPr>
              <a:t>嵌软</a:t>
            </a:r>
            <a:r>
              <a:rPr lang="en-US" altLang="zh-CN" sz="2400" dirty="0">
                <a:solidFill>
                  <a:schemeClr val="tx1">
                    <a:lumMod val="75000"/>
                    <a:lumOff val="25000"/>
                  </a:schemeClr>
                </a:solidFill>
                <a:latin typeface="华文楷体" pitchFamily="2" charset="-122"/>
                <a:ea typeface="华文楷体" pitchFamily="2" charset="-122"/>
              </a:rPr>
              <a:t>12</a:t>
            </a:r>
            <a:r>
              <a:rPr lang="zh-CN" altLang="en-US" sz="2400" dirty="0">
                <a:solidFill>
                  <a:schemeClr val="tx1">
                    <a:lumMod val="75000"/>
                    <a:lumOff val="25000"/>
                  </a:schemeClr>
                </a:solidFill>
                <a:latin typeface="华文楷体" pitchFamily="2" charset="-122"/>
                <a:ea typeface="华文楷体" pitchFamily="2" charset="-122"/>
              </a:rPr>
              <a:t>级</a:t>
            </a:r>
            <a:r>
              <a:rPr lang="en-US" altLang="zh-CN" sz="2400" dirty="0">
                <a:solidFill>
                  <a:schemeClr val="tx1">
                    <a:lumMod val="75000"/>
                    <a:lumOff val="25000"/>
                  </a:schemeClr>
                </a:solidFill>
                <a:latin typeface="华文楷体" pitchFamily="2" charset="-122"/>
                <a:ea typeface="华文楷体" pitchFamily="2" charset="-122"/>
              </a:rPr>
              <a:t>1</a:t>
            </a:r>
            <a:r>
              <a:rPr lang="zh-CN" altLang="en-US" sz="2400" dirty="0">
                <a:solidFill>
                  <a:schemeClr val="tx1">
                    <a:lumMod val="75000"/>
                    <a:lumOff val="25000"/>
                  </a:schemeClr>
                </a:solidFill>
                <a:latin typeface="华文楷体" pitchFamily="2" charset="-122"/>
                <a:ea typeface="华文楷体" pitchFamily="2" charset="-122"/>
              </a:rPr>
              <a:t>班</a:t>
            </a:r>
            <a:endParaRPr lang="zh-CN" altLang="en-US" sz="2400" dirty="0">
              <a:solidFill>
                <a:schemeClr val="tx1">
                  <a:lumMod val="75000"/>
                  <a:lumOff val="25000"/>
                </a:schemeClr>
              </a:solidFill>
              <a:latin typeface="华文楷体" pitchFamily="2" charset="-122"/>
              <a:ea typeface="华文楷体" pitchFamily="2" charset="-122"/>
            </a:endParaRPr>
          </a:p>
          <a:p>
            <a:pPr algn="r" fontAlgn="auto">
              <a:lnSpc>
                <a:spcPct val="120000"/>
              </a:lnSpc>
              <a:spcBef>
                <a:spcPts val="0"/>
              </a:spcBef>
              <a:spcAft>
                <a:spcPts val="0"/>
              </a:spcAft>
              <a:defRPr/>
            </a:pPr>
            <a:r>
              <a:rPr lang="zh-CN" altLang="en-US" sz="2400" dirty="0">
                <a:solidFill>
                  <a:schemeClr val="tx1">
                    <a:lumMod val="75000"/>
                    <a:lumOff val="25000"/>
                  </a:schemeClr>
                </a:solidFill>
                <a:latin typeface="华文楷体" pitchFamily="2" charset="-122"/>
                <a:ea typeface="华文楷体" pitchFamily="2" charset="-122"/>
              </a:rPr>
              <a:t>指导老师</a:t>
            </a:r>
            <a:r>
              <a:rPr lang="en-US" altLang="zh-CN" sz="2400" dirty="0">
                <a:solidFill>
                  <a:schemeClr val="tx1">
                    <a:lumMod val="75000"/>
                    <a:lumOff val="25000"/>
                  </a:schemeClr>
                </a:solidFill>
                <a:latin typeface="华文楷体" pitchFamily="2" charset="-122"/>
                <a:ea typeface="华文楷体" pitchFamily="2" charset="-122"/>
              </a:rPr>
              <a:t>——</a:t>
            </a:r>
            <a:r>
              <a:rPr lang="zh-CN" altLang="en-US" sz="2400" dirty="0">
                <a:solidFill>
                  <a:schemeClr val="tx1">
                    <a:lumMod val="75000"/>
                    <a:lumOff val="25000"/>
                  </a:schemeClr>
                </a:solidFill>
                <a:latin typeface="华文楷体" pitchFamily="2" charset="-122"/>
                <a:ea typeface="华文楷体" pitchFamily="2" charset="-122"/>
              </a:rPr>
              <a:t>刘万军</a:t>
            </a:r>
            <a:endParaRPr lang="zh-CN" altLang="en-US" sz="2400" dirty="0">
              <a:solidFill>
                <a:schemeClr val="tx1">
                  <a:lumMod val="75000"/>
                  <a:lumOff val="25000"/>
                </a:schemeClr>
              </a:solidFill>
              <a:latin typeface="华文楷体" pitchFamily="2" charset="-122"/>
              <a:ea typeface="华文楷体" pitchFamily="2" charset="-122"/>
            </a:endParaRPr>
          </a:p>
        </p:txBody>
      </p:sp>
      <p:cxnSp>
        <p:nvCxnSpPr>
          <p:cNvPr id="7" name="直接连接符 6"/>
          <p:cNvCxnSpPr/>
          <p:nvPr/>
        </p:nvCxnSpPr>
        <p:spPr>
          <a:xfrm>
            <a:off x="163513" y="6627813"/>
            <a:ext cx="440848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4344" name="组合 27"/>
          <p:cNvGrpSpPr/>
          <p:nvPr/>
        </p:nvGrpSpPr>
        <p:grpSpPr bwMode="auto">
          <a:xfrm>
            <a:off x="0" y="3770313"/>
            <a:ext cx="9144000" cy="57150"/>
            <a:chOff x="30834" y="1305568"/>
            <a:chExt cx="8816454" cy="66133"/>
          </a:xfrm>
        </p:grpSpPr>
        <p:sp>
          <p:nvSpPr>
            <p:cNvPr id="29" name="矩形 28"/>
            <p:cNvSpPr/>
            <p:nvPr/>
          </p:nvSpPr>
          <p:spPr>
            <a:xfrm>
              <a:off x="30834" y="1305568"/>
              <a:ext cx="5799574" cy="66133"/>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0" name="矩形 29"/>
            <p:cNvSpPr/>
            <p:nvPr/>
          </p:nvSpPr>
          <p:spPr>
            <a:xfrm>
              <a:off x="5887041" y="1305568"/>
              <a:ext cx="2960247" cy="66133"/>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8" name="文本框 7"/>
          <p:cNvSpPr txBox="1"/>
          <p:nvPr/>
        </p:nvSpPr>
        <p:spPr>
          <a:xfrm>
            <a:off x="784860" y="786765"/>
            <a:ext cx="4320000" cy="720000"/>
          </a:xfrm>
          <a:prstGeom prst="rect">
            <a:avLst/>
          </a:prstGeom>
          <a:noFill/>
        </p:spPr>
        <p:txBody>
          <a:bodyPr wrap="square" rtlCol="0">
            <a:spAutoFit/>
          </a:bodyPr>
          <a:p>
            <a:r>
              <a:rPr lang="zh-CN" altLang="en-US" sz="3600" i="1">
                <a:solidFill>
                  <a:schemeClr val="bg1"/>
                </a:solidFill>
                <a:uFillTx/>
                <a:latin typeface="楷体" charset="0"/>
                <a:ea typeface="楷体" charset="0"/>
              </a:rPr>
              <a:t>辽宁工程技术大学</a:t>
            </a:r>
            <a:endParaRPr lang="zh-CN" altLang="en-US" sz="3600" i="1">
              <a:solidFill>
                <a:schemeClr val="bg1"/>
              </a:solidFill>
              <a:uFillTx/>
              <a:latin typeface="楷体" charset="0"/>
              <a:ea typeface="楷体"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588" y="12700"/>
            <a:ext cx="9158288" cy="1203325"/>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9" name="文本框 38"/>
          <p:cNvSpPr txBox="1"/>
          <p:nvPr/>
        </p:nvSpPr>
        <p:spPr>
          <a:xfrm>
            <a:off x="163513" y="3082925"/>
            <a:ext cx="3124200" cy="646113"/>
          </a:xfrm>
          <a:prstGeom prst="rect">
            <a:avLst/>
          </a:prstGeom>
          <a:noFill/>
        </p:spPr>
        <p:txBody>
          <a:bodyPr>
            <a:spAutoFit/>
          </a:bodyPr>
          <a:lstStyle/>
          <a:p>
            <a:pPr fontAlgn="auto">
              <a:spcBef>
                <a:spcPts val="0"/>
              </a:spcBef>
              <a:spcAft>
                <a:spcPts val="0"/>
              </a:spcAft>
              <a:defRPr/>
            </a:pPr>
            <a:r>
              <a:rPr lang="en-US" altLang="zh-CN" sz="3600" b="1" dirty="0">
                <a:solidFill>
                  <a:schemeClr val="bg1">
                    <a:lumMod val="65000"/>
                  </a:schemeClr>
                </a:solidFill>
                <a:latin typeface="华文楷体" pitchFamily="2" charset="-122"/>
                <a:ea typeface="华文楷体" pitchFamily="2" charset="-122"/>
              </a:rPr>
              <a:t>CONTENTS</a:t>
            </a:r>
            <a:endParaRPr lang="zh-CN" altLang="en-US" sz="3600" b="1" dirty="0">
              <a:solidFill>
                <a:schemeClr val="bg1">
                  <a:lumMod val="65000"/>
                </a:schemeClr>
              </a:solidFill>
              <a:latin typeface="华文楷体" pitchFamily="2" charset="-122"/>
              <a:ea typeface="华文楷体" pitchFamily="2" charset="-122"/>
            </a:endParaRPr>
          </a:p>
        </p:txBody>
      </p:sp>
      <p:grpSp>
        <p:nvGrpSpPr>
          <p:cNvPr id="15364" name="组合 42"/>
          <p:cNvGrpSpPr/>
          <p:nvPr/>
        </p:nvGrpSpPr>
        <p:grpSpPr bwMode="auto">
          <a:xfrm>
            <a:off x="0" y="1304925"/>
            <a:ext cx="9144000" cy="57150"/>
            <a:chOff x="30834" y="1305568"/>
            <a:chExt cx="8816454" cy="66133"/>
          </a:xfrm>
        </p:grpSpPr>
        <p:sp>
          <p:nvSpPr>
            <p:cNvPr id="14" name="矩形 13"/>
            <p:cNvSpPr/>
            <p:nvPr/>
          </p:nvSpPr>
          <p:spPr>
            <a:xfrm>
              <a:off x="30834" y="1305568"/>
              <a:ext cx="5799574" cy="66133"/>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5" name="矩形 14"/>
            <p:cNvSpPr/>
            <p:nvPr/>
          </p:nvSpPr>
          <p:spPr>
            <a:xfrm>
              <a:off x="5887041" y="1305568"/>
              <a:ext cx="2960247" cy="66133"/>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cxnSp>
        <p:nvCxnSpPr>
          <p:cNvPr id="7" name="直接连接符 6"/>
          <p:cNvCxnSpPr/>
          <p:nvPr/>
        </p:nvCxnSpPr>
        <p:spPr>
          <a:xfrm>
            <a:off x="4572000" y="6627813"/>
            <a:ext cx="4087813"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366" name="文本框 11"/>
          <p:cNvSpPr txBox="1">
            <a:spLocks noChangeArrowheads="1"/>
          </p:cNvSpPr>
          <p:nvPr/>
        </p:nvSpPr>
        <p:spPr bwMode="auto">
          <a:xfrm>
            <a:off x="2120900" y="2917825"/>
            <a:ext cx="903288" cy="523875"/>
          </a:xfrm>
          <a:prstGeom prst="rect">
            <a:avLst/>
          </a:prstGeom>
          <a:noFill/>
          <a:ln w="9525">
            <a:noFill/>
            <a:miter lim="800000"/>
          </a:ln>
        </p:spPr>
        <p:txBody>
          <a:bodyPr wrap="none">
            <a:spAutoFit/>
          </a:bodyPr>
          <a:lstStyle/>
          <a:p>
            <a:r>
              <a:rPr lang="zh-CN" altLang="en-US" sz="2800" b="1">
                <a:solidFill>
                  <a:srgbClr val="5C307D"/>
                </a:solidFill>
                <a:latin typeface="华文楷体"/>
                <a:ea typeface="华文楷体"/>
                <a:cs typeface="华文楷体"/>
              </a:rPr>
              <a:t>目录</a:t>
            </a:r>
            <a:endParaRPr lang="zh-CN" altLang="en-US" sz="2800" b="1">
              <a:solidFill>
                <a:srgbClr val="5C307D"/>
              </a:solidFill>
              <a:latin typeface="华文楷体"/>
              <a:ea typeface="华文楷体"/>
              <a:cs typeface="华文楷体"/>
            </a:endParaRPr>
          </a:p>
        </p:txBody>
      </p:sp>
      <p:sp>
        <p:nvSpPr>
          <p:cNvPr id="15367" name="文本框 16"/>
          <p:cNvSpPr txBox="1">
            <a:spLocks noChangeArrowheads="1"/>
          </p:cNvSpPr>
          <p:nvPr/>
        </p:nvSpPr>
        <p:spPr bwMode="auto">
          <a:xfrm>
            <a:off x="3525838" y="2903538"/>
            <a:ext cx="376237" cy="584200"/>
          </a:xfrm>
          <a:prstGeom prst="rect">
            <a:avLst/>
          </a:prstGeom>
          <a:noFill/>
          <a:ln w="9525">
            <a:noFill/>
            <a:miter lim="800000"/>
          </a:ln>
        </p:spPr>
        <p:txBody>
          <a:bodyPr wrap="none">
            <a:spAutoFit/>
          </a:bodyPr>
          <a:lstStyle/>
          <a:p>
            <a:pPr algn="ctr"/>
            <a:r>
              <a:rPr lang="en-US" altLang="zh-CN" sz="3200">
                <a:solidFill>
                  <a:srgbClr val="5C307D"/>
                </a:solidFill>
                <a:latin typeface="华文楷体"/>
                <a:ea typeface="华文楷体"/>
                <a:cs typeface="华文楷体"/>
              </a:rPr>
              <a:t>1</a:t>
            </a:r>
            <a:endParaRPr lang="zh-CN" altLang="en-US" sz="3200">
              <a:solidFill>
                <a:srgbClr val="5C307D"/>
              </a:solidFill>
              <a:latin typeface="华文楷体"/>
              <a:ea typeface="华文楷体"/>
              <a:cs typeface="华文楷体"/>
            </a:endParaRPr>
          </a:p>
        </p:txBody>
      </p:sp>
      <p:sp>
        <p:nvSpPr>
          <p:cNvPr id="19" name="文本框 18"/>
          <p:cNvSpPr txBox="1"/>
          <p:nvPr/>
        </p:nvSpPr>
        <p:spPr>
          <a:xfrm>
            <a:off x="3999230" y="2955608"/>
            <a:ext cx="1198880" cy="396240"/>
          </a:xfrm>
          <a:prstGeom prst="rect">
            <a:avLst/>
          </a:prstGeom>
          <a:noFill/>
        </p:spPr>
        <p:txBody>
          <a:bodyPr wrap="none">
            <a:spAutoFit/>
          </a:bodyPr>
          <a:lstStyle/>
          <a:p>
            <a:pPr fontAlgn="auto">
              <a:spcBef>
                <a:spcPts val="0"/>
              </a:spcBef>
              <a:spcAft>
                <a:spcPts val="0"/>
              </a:spcAft>
              <a:defRPr/>
            </a:pPr>
            <a:r>
              <a:rPr lang="zh-CN" altLang="en-US" sz="2000" dirty="0">
                <a:solidFill>
                  <a:schemeClr val="tx1">
                    <a:lumMod val="75000"/>
                    <a:lumOff val="25000"/>
                  </a:schemeClr>
                </a:solidFill>
                <a:latin typeface="+mn-lt"/>
                <a:ea typeface="华文楷体" pitchFamily="2" charset="-122"/>
              </a:rPr>
              <a:t>选题背景</a:t>
            </a:r>
            <a:endParaRPr lang="zh-CN" altLang="en-US" sz="2000" dirty="0">
              <a:solidFill>
                <a:schemeClr val="tx1">
                  <a:lumMod val="75000"/>
                  <a:lumOff val="25000"/>
                </a:schemeClr>
              </a:solidFill>
              <a:latin typeface="+mn-lt"/>
              <a:ea typeface="华文楷体" pitchFamily="2" charset="-122"/>
            </a:endParaRPr>
          </a:p>
        </p:txBody>
      </p:sp>
      <p:cxnSp>
        <p:nvCxnSpPr>
          <p:cNvPr id="20" name="直接连接符 19"/>
          <p:cNvCxnSpPr/>
          <p:nvPr/>
        </p:nvCxnSpPr>
        <p:spPr>
          <a:xfrm flipH="1">
            <a:off x="3736975" y="3082925"/>
            <a:ext cx="246063" cy="246063"/>
          </a:xfrm>
          <a:prstGeom prst="line">
            <a:avLst/>
          </a:prstGeom>
          <a:ln>
            <a:solidFill>
              <a:srgbClr val="5C307D"/>
            </a:solidFill>
          </a:ln>
        </p:spPr>
        <p:style>
          <a:lnRef idx="1">
            <a:schemeClr val="accent1"/>
          </a:lnRef>
          <a:fillRef idx="0">
            <a:schemeClr val="accent1"/>
          </a:fillRef>
          <a:effectRef idx="0">
            <a:schemeClr val="accent1"/>
          </a:effectRef>
          <a:fontRef idx="minor">
            <a:schemeClr val="tx1"/>
          </a:fontRef>
        </p:style>
      </p:cxnSp>
      <p:sp>
        <p:nvSpPr>
          <p:cNvPr id="15370" name="文本框 20"/>
          <p:cNvSpPr txBox="1">
            <a:spLocks noChangeArrowheads="1"/>
          </p:cNvSpPr>
          <p:nvPr/>
        </p:nvSpPr>
        <p:spPr bwMode="auto">
          <a:xfrm>
            <a:off x="6081713" y="2913063"/>
            <a:ext cx="377825" cy="585787"/>
          </a:xfrm>
          <a:prstGeom prst="rect">
            <a:avLst/>
          </a:prstGeom>
          <a:noFill/>
          <a:ln w="9525">
            <a:noFill/>
            <a:miter lim="800000"/>
          </a:ln>
        </p:spPr>
        <p:txBody>
          <a:bodyPr wrap="none">
            <a:spAutoFit/>
          </a:bodyPr>
          <a:lstStyle/>
          <a:p>
            <a:pPr algn="ctr"/>
            <a:r>
              <a:rPr lang="en-US" altLang="zh-CN" sz="3200">
                <a:solidFill>
                  <a:srgbClr val="5C307D"/>
                </a:solidFill>
                <a:latin typeface="华文楷体"/>
                <a:ea typeface="华文楷体"/>
                <a:cs typeface="华文楷体"/>
              </a:rPr>
              <a:t>2</a:t>
            </a:r>
            <a:endParaRPr lang="zh-CN" altLang="en-US" sz="3200">
              <a:solidFill>
                <a:srgbClr val="5C307D"/>
              </a:solidFill>
              <a:latin typeface="华文楷体"/>
              <a:ea typeface="华文楷体"/>
              <a:cs typeface="华文楷体"/>
            </a:endParaRPr>
          </a:p>
        </p:txBody>
      </p:sp>
      <p:sp>
        <p:nvSpPr>
          <p:cNvPr id="22" name="文本框 21"/>
          <p:cNvSpPr txBox="1"/>
          <p:nvPr/>
        </p:nvSpPr>
        <p:spPr>
          <a:xfrm>
            <a:off x="6570663" y="2995613"/>
            <a:ext cx="1097280" cy="365760"/>
          </a:xfrm>
          <a:prstGeom prst="rect">
            <a:avLst/>
          </a:prstGeom>
          <a:noFill/>
        </p:spPr>
        <p:txBody>
          <a:bodyPr wrap="none">
            <a:spAutoFit/>
          </a:bodyPr>
          <a:lstStyle/>
          <a:p>
            <a:pPr fontAlgn="auto">
              <a:spcBef>
                <a:spcPts val="0"/>
              </a:spcBef>
              <a:spcAft>
                <a:spcPts val="0"/>
              </a:spcAft>
              <a:defRPr/>
            </a:pPr>
            <a:r>
              <a:rPr lang="zh-CN" altLang="en-US" dirty="0">
                <a:solidFill>
                  <a:schemeClr val="tx1">
                    <a:lumMod val="75000"/>
                    <a:lumOff val="25000"/>
                  </a:schemeClr>
                </a:solidFill>
                <a:latin typeface="+mn-lt"/>
                <a:ea typeface="华文楷体" pitchFamily="2" charset="-122"/>
              </a:rPr>
              <a:t>选题意义</a:t>
            </a:r>
            <a:endParaRPr lang="zh-CN" altLang="en-US" dirty="0">
              <a:solidFill>
                <a:schemeClr val="tx1">
                  <a:lumMod val="75000"/>
                  <a:lumOff val="25000"/>
                </a:schemeClr>
              </a:solidFill>
              <a:latin typeface="+mn-lt"/>
              <a:ea typeface="华文楷体" pitchFamily="2" charset="-122"/>
            </a:endParaRPr>
          </a:p>
        </p:txBody>
      </p:sp>
      <p:cxnSp>
        <p:nvCxnSpPr>
          <p:cNvPr id="23" name="直接连接符 22"/>
          <p:cNvCxnSpPr/>
          <p:nvPr/>
        </p:nvCxnSpPr>
        <p:spPr>
          <a:xfrm flipH="1">
            <a:off x="6324600" y="3082925"/>
            <a:ext cx="246063" cy="246063"/>
          </a:xfrm>
          <a:prstGeom prst="line">
            <a:avLst/>
          </a:prstGeom>
          <a:ln>
            <a:solidFill>
              <a:srgbClr val="5C307D"/>
            </a:solidFill>
          </a:ln>
        </p:spPr>
        <p:style>
          <a:lnRef idx="1">
            <a:schemeClr val="accent1"/>
          </a:lnRef>
          <a:fillRef idx="0">
            <a:schemeClr val="accent1"/>
          </a:fillRef>
          <a:effectRef idx="0">
            <a:schemeClr val="accent1"/>
          </a:effectRef>
          <a:fontRef idx="minor">
            <a:schemeClr val="tx1"/>
          </a:fontRef>
        </p:style>
      </p:cxnSp>
      <p:sp>
        <p:nvSpPr>
          <p:cNvPr id="15373" name="文本框 23"/>
          <p:cNvSpPr txBox="1">
            <a:spLocks noChangeArrowheads="1"/>
          </p:cNvSpPr>
          <p:nvPr/>
        </p:nvSpPr>
        <p:spPr bwMode="auto">
          <a:xfrm>
            <a:off x="3525838" y="3482975"/>
            <a:ext cx="376237" cy="584200"/>
          </a:xfrm>
          <a:prstGeom prst="rect">
            <a:avLst/>
          </a:prstGeom>
          <a:noFill/>
          <a:ln w="9525">
            <a:noFill/>
            <a:miter lim="800000"/>
          </a:ln>
        </p:spPr>
        <p:txBody>
          <a:bodyPr wrap="none">
            <a:spAutoFit/>
          </a:bodyPr>
          <a:lstStyle/>
          <a:p>
            <a:pPr algn="ctr"/>
            <a:r>
              <a:rPr lang="en-US" altLang="zh-CN" sz="3200">
                <a:solidFill>
                  <a:srgbClr val="5C307D"/>
                </a:solidFill>
                <a:latin typeface="华文楷体"/>
                <a:ea typeface="华文楷体"/>
                <a:cs typeface="华文楷体"/>
              </a:rPr>
              <a:t>3</a:t>
            </a:r>
            <a:endParaRPr lang="zh-CN" altLang="en-US" sz="3200">
              <a:solidFill>
                <a:srgbClr val="5C307D"/>
              </a:solidFill>
              <a:latin typeface="华文楷体"/>
              <a:ea typeface="华文楷体"/>
              <a:cs typeface="华文楷体"/>
            </a:endParaRPr>
          </a:p>
        </p:txBody>
      </p:sp>
      <p:sp>
        <p:nvSpPr>
          <p:cNvPr id="25" name="文本框 24"/>
          <p:cNvSpPr txBox="1"/>
          <p:nvPr/>
        </p:nvSpPr>
        <p:spPr>
          <a:xfrm>
            <a:off x="3984625" y="3549650"/>
            <a:ext cx="1198880" cy="396240"/>
          </a:xfrm>
          <a:prstGeom prst="rect">
            <a:avLst/>
          </a:prstGeom>
          <a:noFill/>
        </p:spPr>
        <p:txBody>
          <a:bodyPr wrap="none">
            <a:spAutoFit/>
          </a:bodyPr>
          <a:lstStyle/>
          <a:p>
            <a:pPr fontAlgn="auto">
              <a:spcBef>
                <a:spcPts val="0"/>
              </a:spcBef>
              <a:spcAft>
                <a:spcPts val="0"/>
              </a:spcAft>
              <a:defRPr/>
            </a:pPr>
            <a:r>
              <a:rPr lang="zh-CN" altLang="en-US" sz="2000" dirty="0">
                <a:solidFill>
                  <a:schemeClr val="tx1">
                    <a:lumMod val="75000"/>
                    <a:lumOff val="25000"/>
                  </a:schemeClr>
                </a:solidFill>
                <a:latin typeface="+mn-lt"/>
                <a:ea typeface="华文楷体" pitchFamily="2" charset="-122"/>
              </a:rPr>
              <a:t>研究过程</a:t>
            </a:r>
            <a:endParaRPr lang="zh-CN" altLang="en-US" sz="2000" dirty="0">
              <a:solidFill>
                <a:schemeClr val="tx1">
                  <a:lumMod val="75000"/>
                  <a:lumOff val="25000"/>
                </a:schemeClr>
              </a:solidFill>
              <a:latin typeface="+mn-lt"/>
              <a:ea typeface="华文楷体" pitchFamily="2" charset="-122"/>
            </a:endParaRPr>
          </a:p>
        </p:txBody>
      </p:sp>
      <p:cxnSp>
        <p:nvCxnSpPr>
          <p:cNvPr id="26" name="直接连接符 25"/>
          <p:cNvCxnSpPr/>
          <p:nvPr/>
        </p:nvCxnSpPr>
        <p:spPr>
          <a:xfrm flipH="1">
            <a:off x="3736975" y="3662363"/>
            <a:ext cx="246063" cy="246062"/>
          </a:xfrm>
          <a:prstGeom prst="line">
            <a:avLst/>
          </a:prstGeom>
          <a:ln>
            <a:solidFill>
              <a:srgbClr val="5C307D"/>
            </a:solidFill>
          </a:ln>
        </p:spPr>
        <p:style>
          <a:lnRef idx="1">
            <a:schemeClr val="accent1"/>
          </a:lnRef>
          <a:fillRef idx="0">
            <a:schemeClr val="accent1"/>
          </a:fillRef>
          <a:effectRef idx="0">
            <a:schemeClr val="accent1"/>
          </a:effectRef>
          <a:fontRef idx="minor">
            <a:schemeClr val="tx1"/>
          </a:fontRef>
        </p:style>
      </p:cxnSp>
      <p:sp>
        <p:nvSpPr>
          <p:cNvPr id="15376" name="文本框 26"/>
          <p:cNvSpPr txBox="1">
            <a:spLocks noChangeArrowheads="1"/>
          </p:cNvSpPr>
          <p:nvPr/>
        </p:nvSpPr>
        <p:spPr bwMode="auto">
          <a:xfrm>
            <a:off x="6081713" y="3492500"/>
            <a:ext cx="377825" cy="585788"/>
          </a:xfrm>
          <a:prstGeom prst="rect">
            <a:avLst/>
          </a:prstGeom>
          <a:noFill/>
          <a:ln w="9525">
            <a:noFill/>
            <a:miter lim="800000"/>
          </a:ln>
        </p:spPr>
        <p:txBody>
          <a:bodyPr wrap="none">
            <a:spAutoFit/>
          </a:bodyPr>
          <a:lstStyle/>
          <a:p>
            <a:pPr algn="ctr"/>
            <a:r>
              <a:rPr lang="en-US" altLang="zh-CN" sz="3200">
                <a:solidFill>
                  <a:srgbClr val="5C307D"/>
                </a:solidFill>
                <a:latin typeface="华文楷体"/>
                <a:ea typeface="华文楷体"/>
                <a:cs typeface="华文楷体"/>
              </a:rPr>
              <a:t>4</a:t>
            </a:r>
            <a:endParaRPr lang="zh-CN" altLang="en-US" sz="3200">
              <a:solidFill>
                <a:srgbClr val="5C307D"/>
              </a:solidFill>
              <a:latin typeface="华文楷体"/>
              <a:ea typeface="华文楷体"/>
              <a:cs typeface="华文楷体"/>
            </a:endParaRPr>
          </a:p>
        </p:txBody>
      </p:sp>
      <p:sp>
        <p:nvSpPr>
          <p:cNvPr id="28" name="文本框 27"/>
          <p:cNvSpPr txBox="1"/>
          <p:nvPr/>
        </p:nvSpPr>
        <p:spPr>
          <a:xfrm>
            <a:off x="6570663" y="3575050"/>
            <a:ext cx="1097280" cy="365760"/>
          </a:xfrm>
          <a:prstGeom prst="rect">
            <a:avLst/>
          </a:prstGeom>
          <a:noFill/>
        </p:spPr>
        <p:txBody>
          <a:bodyPr wrap="none">
            <a:spAutoFit/>
          </a:bodyPr>
          <a:lstStyle/>
          <a:p>
            <a:pPr fontAlgn="auto">
              <a:spcBef>
                <a:spcPts val="0"/>
              </a:spcBef>
              <a:spcAft>
                <a:spcPts val="0"/>
              </a:spcAft>
              <a:defRPr/>
            </a:pPr>
            <a:r>
              <a:rPr lang="zh-CN" altLang="en-US" dirty="0">
                <a:solidFill>
                  <a:schemeClr val="tx1">
                    <a:lumMod val="75000"/>
                    <a:lumOff val="25000"/>
                  </a:schemeClr>
                </a:solidFill>
                <a:latin typeface="+mn-lt"/>
                <a:ea typeface="华文楷体" pitchFamily="2" charset="-122"/>
              </a:rPr>
              <a:t>研究结论</a:t>
            </a:r>
            <a:endParaRPr lang="zh-CN" altLang="en-US" dirty="0">
              <a:solidFill>
                <a:schemeClr val="tx1">
                  <a:lumMod val="75000"/>
                  <a:lumOff val="25000"/>
                </a:schemeClr>
              </a:solidFill>
              <a:latin typeface="+mn-lt"/>
              <a:ea typeface="华文楷体" pitchFamily="2" charset="-122"/>
            </a:endParaRPr>
          </a:p>
        </p:txBody>
      </p:sp>
      <p:cxnSp>
        <p:nvCxnSpPr>
          <p:cNvPr id="29" name="直接连接符 28"/>
          <p:cNvCxnSpPr/>
          <p:nvPr/>
        </p:nvCxnSpPr>
        <p:spPr>
          <a:xfrm flipH="1">
            <a:off x="6324600" y="3662363"/>
            <a:ext cx="246063" cy="246062"/>
          </a:xfrm>
          <a:prstGeom prst="line">
            <a:avLst/>
          </a:prstGeom>
          <a:ln>
            <a:solidFill>
              <a:srgbClr val="5C307D"/>
            </a:solidFill>
          </a:ln>
        </p:spPr>
        <p:style>
          <a:lnRef idx="1">
            <a:schemeClr val="accent1"/>
          </a:lnRef>
          <a:fillRef idx="0">
            <a:schemeClr val="accent1"/>
          </a:fillRef>
          <a:effectRef idx="0">
            <a:schemeClr val="accent1"/>
          </a:effectRef>
          <a:fontRef idx="minor">
            <a:schemeClr val="tx1"/>
          </a:fontRef>
        </p:style>
      </p:cxnSp>
      <p:sp>
        <p:nvSpPr>
          <p:cNvPr id="36" name="椭圆 16"/>
          <p:cNvSpPr/>
          <p:nvPr/>
        </p:nvSpPr>
        <p:spPr>
          <a:xfrm>
            <a:off x="8370888" y="6346825"/>
            <a:ext cx="288925" cy="287338"/>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ea typeface="华文楷体" pitchFamily="2" charset="-122"/>
            </a:endParaRPr>
          </a:p>
        </p:txBody>
      </p:sp>
      <p:sp>
        <p:nvSpPr>
          <p:cNvPr id="37" name="椭圆 17"/>
          <p:cNvSpPr/>
          <p:nvPr/>
        </p:nvSpPr>
        <p:spPr>
          <a:xfrm>
            <a:off x="8691563" y="6029325"/>
            <a:ext cx="288925" cy="28892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ea typeface="华文楷体" pitchFamily="2" charset="-122"/>
            </a:endParaRPr>
          </a:p>
        </p:txBody>
      </p:sp>
      <p:cxnSp>
        <p:nvCxnSpPr>
          <p:cNvPr id="8" name="直接连接符 7"/>
          <p:cNvCxnSpPr/>
          <p:nvPr/>
        </p:nvCxnSpPr>
        <p:spPr>
          <a:xfrm>
            <a:off x="3278188" y="2995613"/>
            <a:ext cx="0" cy="154622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18465" y="265430"/>
            <a:ext cx="4320000" cy="720000"/>
          </a:xfrm>
          <a:prstGeom prst="rect">
            <a:avLst/>
          </a:prstGeom>
          <a:noFill/>
        </p:spPr>
        <p:txBody>
          <a:bodyPr wrap="square" rtlCol="0">
            <a:spAutoFit/>
          </a:bodyPr>
          <a:p>
            <a:r>
              <a:rPr lang="zh-CN" altLang="en-US" sz="3600" i="1">
                <a:solidFill>
                  <a:schemeClr val="bg1"/>
                </a:solidFill>
                <a:uFillTx/>
                <a:latin typeface="楷体" charset="0"/>
                <a:ea typeface="楷体" charset="0"/>
                <a:sym typeface="+mn-ea"/>
              </a:rPr>
              <a:t>辽宁工程技术大学</a:t>
            </a:r>
            <a:endParaRPr lang="zh-CN" altLang="en-US" sz="3600" i="1">
              <a:solidFill>
                <a:schemeClr val="bg1"/>
              </a:solidFill>
              <a:uFillTx/>
              <a:latin typeface="楷体" charset="0"/>
              <a:ea typeface="楷体" charset="0"/>
            </a:endParaRPr>
          </a:p>
          <a:p>
            <a:endParaRPr lang="zh-CN" altLang="en-US" sz="36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75" y="0"/>
            <a:ext cx="9147175" cy="46038"/>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6" name="直接连接符 5"/>
          <p:cNvCxnSpPr/>
          <p:nvPr/>
        </p:nvCxnSpPr>
        <p:spPr>
          <a:xfrm>
            <a:off x="-14288" y="1201738"/>
            <a:ext cx="91471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175" y="6640513"/>
            <a:ext cx="9147175" cy="217487"/>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437" name="文本框 10"/>
          <p:cNvSpPr txBox="1">
            <a:spLocks noChangeArrowheads="1"/>
          </p:cNvSpPr>
          <p:nvPr/>
        </p:nvSpPr>
        <p:spPr bwMode="auto">
          <a:xfrm>
            <a:off x="258604" y="1303338"/>
            <a:ext cx="1097280" cy="365760"/>
          </a:xfrm>
          <a:prstGeom prst="rect">
            <a:avLst/>
          </a:prstGeom>
          <a:solidFill>
            <a:srgbClr val="5C307D"/>
          </a:solidFill>
          <a:ln w="9525">
            <a:noFill/>
            <a:miter lim="800000"/>
          </a:ln>
        </p:spPr>
        <p:txBody>
          <a:bodyPr wrap="none">
            <a:spAutoFit/>
          </a:bodyPr>
          <a:lstStyle/>
          <a:p>
            <a:pPr algn="ctr"/>
            <a:r>
              <a:rPr lang="zh-CN" altLang="en-US">
                <a:solidFill>
                  <a:schemeClr val="bg1"/>
                </a:solidFill>
                <a:latin typeface="华文楷体"/>
                <a:ea typeface="华文楷体"/>
                <a:cs typeface="华文楷体"/>
              </a:rPr>
              <a:t>选题背景</a:t>
            </a:r>
            <a:endParaRPr lang="zh-CN" altLang="en-US">
              <a:solidFill>
                <a:schemeClr val="bg1"/>
              </a:solidFill>
              <a:latin typeface="华文楷体"/>
              <a:ea typeface="华文楷体"/>
              <a:cs typeface="华文楷体"/>
            </a:endParaRPr>
          </a:p>
        </p:txBody>
      </p:sp>
      <p:sp>
        <p:nvSpPr>
          <p:cNvPr id="18438" name="文本框 11"/>
          <p:cNvSpPr txBox="1">
            <a:spLocks noChangeArrowheads="1"/>
          </p:cNvSpPr>
          <p:nvPr/>
        </p:nvSpPr>
        <p:spPr bwMode="auto">
          <a:xfrm>
            <a:off x="1515110"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选题意义</a:t>
            </a:r>
            <a:endParaRPr lang="zh-CN" altLang="en-US">
              <a:solidFill>
                <a:schemeClr val="tx1"/>
              </a:solidFill>
              <a:latin typeface="华文楷体"/>
              <a:ea typeface="华文楷体"/>
              <a:cs typeface="华文楷体"/>
            </a:endParaRPr>
          </a:p>
        </p:txBody>
      </p:sp>
      <p:sp>
        <p:nvSpPr>
          <p:cNvPr id="18439" name="文本框 12"/>
          <p:cNvSpPr txBox="1">
            <a:spLocks noChangeArrowheads="1"/>
          </p:cNvSpPr>
          <p:nvPr/>
        </p:nvSpPr>
        <p:spPr bwMode="auto">
          <a:xfrm>
            <a:off x="27724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研究过程</a:t>
            </a:r>
            <a:endParaRPr lang="zh-CN" altLang="en-US">
              <a:latin typeface="华文楷体"/>
              <a:ea typeface="华文楷体"/>
              <a:cs typeface="华文楷体"/>
            </a:endParaRPr>
          </a:p>
        </p:txBody>
      </p:sp>
      <p:sp>
        <p:nvSpPr>
          <p:cNvPr id="18440" name="文本框 13"/>
          <p:cNvSpPr txBox="1">
            <a:spLocks noChangeArrowheads="1"/>
          </p:cNvSpPr>
          <p:nvPr/>
        </p:nvSpPr>
        <p:spPr bwMode="auto">
          <a:xfrm>
            <a:off x="40297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研究结论</a:t>
            </a:r>
            <a:endParaRPr lang="zh-CN" altLang="en-US">
              <a:latin typeface="华文楷体"/>
              <a:ea typeface="华文楷体"/>
              <a:cs typeface="华文楷体"/>
            </a:endParaRPr>
          </a:p>
        </p:txBody>
      </p:sp>
      <p:sp>
        <p:nvSpPr>
          <p:cNvPr id="31" name="TextBox 29"/>
          <p:cNvSpPr txBox="1"/>
          <p:nvPr/>
        </p:nvSpPr>
        <p:spPr>
          <a:xfrm>
            <a:off x="254000" y="2638425"/>
            <a:ext cx="4268788" cy="1297940"/>
          </a:xfrm>
          <a:prstGeom prst="rect">
            <a:avLst/>
          </a:prstGeom>
          <a:noFill/>
        </p:spPr>
        <p:txBody>
          <a:bodyPr>
            <a:spAutoFit/>
          </a:bodyPr>
          <a:lstStyle/>
          <a:p>
            <a:pPr fontAlgn="auto">
              <a:lnSpc>
                <a:spcPct val="110000"/>
              </a:lnSpc>
              <a:spcBef>
                <a:spcPts val="0"/>
              </a:spcBef>
              <a:spcAft>
                <a:spcPts val="0"/>
              </a:spcAft>
              <a:defRPr/>
            </a:pPr>
            <a:r>
              <a:rPr lang="zh-CN" altLang="en-US" dirty="0">
                <a:solidFill>
                  <a:schemeClr val="tx1">
                    <a:lumMod val="75000"/>
                    <a:lumOff val="25000"/>
                  </a:schemeClr>
                </a:solidFill>
                <a:latin typeface="+mn-lt"/>
                <a:ea typeface="华文楷体" pitchFamily="2" charset="-122"/>
                <a:sym typeface="+mn-ea"/>
              </a:rPr>
              <a:t>近些年智能化的概念深深地影响到人类的生活，智能化的产品也随处可见，尤其是一些高端智能产品，简直让人耳目一新，这就是本设计研究背景。</a:t>
            </a:r>
            <a:endParaRPr lang="zh-CN" altLang="en-US" dirty="0">
              <a:solidFill>
                <a:schemeClr val="tx1">
                  <a:lumMod val="75000"/>
                  <a:lumOff val="25000"/>
                </a:schemeClr>
              </a:solidFill>
              <a:latin typeface="+mn-lt"/>
              <a:ea typeface="华文楷体" pitchFamily="2" charset="-122"/>
            </a:endParaRPr>
          </a:p>
        </p:txBody>
      </p:sp>
      <p:cxnSp>
        <p:nvCxnSpPr>
          <p:cNvPr id="5" name="直接连接符 4"/>
          <p:cNvCxnSpPr/>
          <p:nvPr/>
        </p:nvCxnSpPr>
        <p:spPr>
          <a:xfrm>
            <a:off x="382588" y="5953125"/>
            <a:ext cx="399891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4" name="TextBox 30"/>
          <p:cNvSpPr txBox="1"/>
          <p:nvPr/>
        </p:nvSpPr>
        <p:spPr>
          <a:xfrm>
            <a:off x="687070" y="2100580"/>
            <a:ext cx="3596640" cy="457200"/>
          </a:xfrm>
          <a:prstGeom prst="rect">
            <a:avLst/>
          </a:prstGeom>
          <a:noFill/>
          <a:ln>
            <a:noFill/>
          </a:ln>
        </p:spPr>
        <p:txBody>
          <a:bodyPr wrap="square">
            <a:spAutoFit/>
          </a:bodyPr>
          <a:lstStyle/>
          <a:p>
            <a:pPr fontAlgn="auto">
              <a:spcBef>
                <a:spcPts val="0"/>
              </a:spcBef>
              <a:spcAft>
                <a:spcPts val="0"/>
              </a:spcAft>
              <a:defRPr/>
            </a:pPr>
            <a:r>
              <a:rPr lang="zh-CN" altLang="en-US" sz="2400" b="1" dirty="0">
                <a:solidFill>
                  <a:schemeClr val="tx1">
                    <a:lumMod val="75000"/>
                    <a:lumOff val="25000"/>
                  </a:schemeClr>
                </a:solidFill>
                <a:latin typeface="+mn-lt"/>
                <a:ea typeface="华文楷体" pitchFamily="2" charset="-122"/>
              </a:rPr>
              <a:t>选题背景</a:t>
            </a:r>
            <a:endParaRPr lang="zh-CN" altLang="en-US" sz="2400" b="1" dirty="0">
              <a:solidFill>
                <a:schemeClr val="tx1">
                  <a:lumMod val="75000"/>
                  <a:lumOff val="25000"/>
                </a:schemeClr>
              </a:solidFill>
              <a:latin typeface="+mn-lt"/>
              <a:ea typeface="华文楷体" pitchFamily="2" charset="-122"/>
            </a:endParaRPr>
          </a:p>
        </p:txBody>
      </p:sp>
      <p:sp>
        <p:nvSpPr>
          <p:cNvPr id="36" name="矩形 35"/>
          <p:cNvSpPr/>
          <p:nvPr/>
        </p:nvSpPr>
        <p:spPr>
          <a:xfrm>
            <a:off x="382588" y="2173288"/>
            <a:ext cx="269875" cy="269875"/>
          </a:xfrm>
          <a:prstGeom prst="rect">
            <a:avLst/>
          </a:prstGeom>
          <a:gradFill>
            <a:gsLst>
              <a:gs pos="0">
                <a:srgbClr val="7B32B2"/>
              </a:gs>
              <a:gs pos="100000">
                <a:srgbClr val="401A5D"/>
              </a:gs>
            </a:gsLst>
            <a:lin ang="5400000" scaled="0"/>
          </a:gradFill>
          <a:ln>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7" name="图片 6" descr="res35_attpic_brief"/>
          <p:cNvPicPr>
            <a:picLocks noChangeAspect="1"/>
          </p:cNvPicPr>
          <p:nvPr/>
        </p:nvPicPr>
        <p:blipFill>
          <a:blip r:embed="rId1"/>
          <a:stretch>
            <a:fillRect/>
          </a:stretch>
        </p:blipFill>
        <p:spPr>
          <a:xfrm>
            <a:off x="5363845" y="1989455"/>
            <a:ext cx="2614930" cy="3922395"/>
          </a:xfrm>
          <a:prstGeom prst="rect">
            <a:avLst/>
          </a:prstGeom>
        </p:spPr>
      </p:pic>
      <p:sp>
        <p:nvSpPr>
          <p:cNvPr id="8" name="文本框 7"/>
          <p:cNvSpPr txBox="1"/>
          <p:nvPr/>
        </p:nvSpPr>
        <p:spPr>
          <a:xfrm>
            <a:off x="395605" y="260985"/>
            <a:ext cx="4320000" cy="720000"/>
          </a:xfrm>
          <a:prstGeom prst="rect">
            <a:avLst/>
          </a:prstGeom>
          <a:noFill/>
        </p:spPr>
        <p:txBody>
          <a:bodyPr wrap="square" rtlCol="0">
            <a:spAutoFit/>
          </a:bodyPr>
          <a:p>
            <a:r>
              <a:rPr lang="zh-CN" altLang="en-US" sz="3600" i="1">
                <a:latin typeface="楷体" charset="0"/>
                <a:ea typeface="楷体" charset="0"/>
              </a:rPr>
              <a:t>辽宁工程技术大学</a:t>
            </a:r>
            <a:endParaRPr lang="zh-CN" altLang="en-US" sz="3600" i="1">
              <a:latin typeface="楷体" charset="0"/>
              <a:ea typeface="楷体"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75" y="0"/>
            <a:ext cx="9147175" cy="46038"/>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6" name="直接连接符 5"/>
          <p:cNvCxnSpPr/>
          <p:nvPr/>
        </p:nvCxnSpPr>
        <p:spPr>
          <a:xfrm>
            <a:off x="-14288" y="1201738"/>
            <a:ext cx="91471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175" y="6640513"/>
            <a:ext cx="9147175" cy="217487"/>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437" name="文本框 10"/>
          <p:cNvSpPr txBox="1">
            <a:spLocks noChangeArrowheads="1"/>
          </p:cNvSpPr>
          <p:nvPr/>
        </p:nvSpPr>
        <p:spPr bwMode="auto">
          <a:xfrm>
            <a:off x="258604" y="1303338"/>
            <a:ext cx="1097280" cy="365760"/>
          </a:xfrm>
          <a:prstGeom prst="rect">
            <a:avLst/>
          </a:prstGeom>
          <a:solidFill>
            <a:srgbClr val="5C307D"/>
          </a:solidFill>
          <a:ln w="9525">
            <a:noFill/>
            <a:miter lim="800000"/>
          </a:ln>
        </p:spPr>
        <p:txBody>
          <a:bodyPr wrap="none">
            <a:spAutoFit/>
          </a:bodyPr>
          <a:lstStyle/>
          <a:p>
            <a:pPr algn="ctr"/>
            <a:r>
              <a:rPr lang="zh-CN" altLang="en-US">
                <a:solidFill>
                  <a:schemeClr val="bg1"/>
                </a:solidFill>
                <a:latin typeface="华文楷体"/>
                <a:ea typeface="华文楷体"/>
                <a:cs typeface="华文楷体"/>
              </a:rPr>
              <a:t>选题背景</a:t>
            </a:r>
            <a:endParaRPr lang="zh-CN" altLang="en-US">
              <a:solidFill>
                <a:schemeClr val="bg1"/>
              </a:solidFill>
              <a:latin typeface="华文楷体"/>
              <a:ea typeface="华文楷体"/>
              <a:cs typeface="华文楷体"/>
            </a:endParaRPr>
          </a:p>
        </p:txBody>
      </p:sp>
      <p:sp>
        <p:nvSpPr>
          <p:cNvPr id="18438" name="文本框 11"/>
          <p:cNvSpPr txBox="1">
            <a:spLocks noChangeArrowheads="1"/>
          </p:cNvSpPr>
          <p:nvPr/>
        </p:nvSpPr>
        <p:spPr bwMode="auto">
          <a:xfrm>
            <a:off x="1515110"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选题意义</a:t>
            </a:r>
            <a:endParaRPr lang="zh-CN" altLang="en-US">
              <a:solidFill>
                <a:schemeClr val="tx1"/>
              </a:solidFill>
              <a:latin typeface="华文楷体"/>
              <a:ea typeface="华文楷体"/>
              <a:cs typeface="华文楷体"/>
            </a:endParaRPr>
          </a:p>
        </p:txBody>
      </p:sp>
      <p:sp>
        <p:nvSpPr>
          <p:cNvPr id="18439" name="文本框 12"/>
          <p:cNvSpPr txBox="1">
            <a:spLocks noChangeArrowheads="1"/>
          </p:cNvSpPr>
          <p:nvPr/>
        </p:nvSpPr>
        <p:spPr bwMode="auto">
          <a:xfrm>
            <a:off x="27724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研究过程</a:t>
            </a:r>
            <a:endParaRPr lang="zh-CN" altLang="en-US">
              <a:latin typeface="华文楷体"/>
              <a:ea typeface="华文楷体"/>
              <a:cs typeface="华文楷体"/>
            </a:endParaRPr>
          </a:p>
        </p:txBody>
      </p:sp>
      <p:sp>
        <p:nvSpPr>
          <p:cNvPr id="18440" name="文本框 13"/>
          <p:cNvSpPr txBox="1">
            <a:spLocks noChangeArrowheads="1"/>
          </p:cNvSpPr>
          <p:nvPr/>
        </p:nvSpPr>
        <p:spPr bwMode="auto">
          <a:xfrm>
            <a:off x="40297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研究结论</a:t>
            </a:r>
            <a:endParaRPr lang="zh-CN" altLang="en-US">
              <a:latin typeface="华文楷体"/>
              <a:ea typeface="华文楷体"/>
              <a:cs typeface="华文楷体"/>
            </a:endParaRPr>
          </a:p>
        </p:txBody>
      </p:sp>
      <p:sp>
        <p:nvSpPr>
          <p:cNvPr id="23" name="任意多边形 22"/>
          <p:cNvSpPr/>
          <p:nvPr/>
        </p:nvSpPr>
        <p:spPr>
          <a:xfrm>
            <a:off x="4879975" y="2075180"/>
            <a:ext cx="1728000" cy="432000"/>
          </a:xfrm>
          <a:custGeom>
            <a:avLst/>
            <a:gdLst>
              <a:gd name="connsiteX0" fmla="*/ 74421 w 1509024"/>
              <a:gd name="connsiteY0" fmla="*/ 0 h 446439"/>
              <a:gd name="connsiteX1" fmla="*/ 1434603 w 1509024"/>
              <a:gd name="connsiteY1" fmla="*/ 0 h 446439"/>
              <a:gd name="connsiteX2" fmla="*/ 1509024 w 1509024"/>
              <a:gd name="connsiteY2" fmla="*/ 74421 h 446439"/>
              <a:gd name="connsiteX3" fmla="*/ 1509024 w 1509024"/>
              <a:gd name="connsiteY3" fmla="*/ 446439 h 446439"/>
              <a:gd name="connsiteX4" fmla="*/ 1509024 w 1509024"/>
              <a:gd name="connsiteY4" fmla="*/ 446439 h 446439"/>
              <a:gd name="connsiteX5" fmla="*/ 0 w 1509024"/>
              <a:gd name="connsiteY5" fmla="*/ 446439 h 446439"/>
              <a:gd name="connsiteX6" fmla="*/ 0 w 1509024"/>
              <a:gd name="connsiteY6" fmla="*/ 446439 h 446439"/>
              <a:gd name="connsiteX7" fmla="*/ 0 w 1509024"/>
              <a:gd name="connsiteY7" fmla="*/ 74421 h 446439"/>
              <a:gd name="connsiteX8" fmla="*/ 74421 w 1509024"/>
              <a:gd name="connsiteY8" fmla="*/ 0 h 44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024" h="446439">
                <a:moveTo>
                  <a:pt x="74421" y="0"/>
                </a:moveTo>
                <a:lnTo>
                  <a:pt x="1434603" y="0"/>
                </a:lnTo>
                <a:cubicBezTo>
                  <a:pt x="1475705" y="0"/>
                  <a:pt x="1509024" y="33319"/>
                  <a:pt x="1509024" y="74421"/>
                </a:cubicBezTo>
                <a:lnTo>
                  <a:pt x="1509024" y="446439"/>
                </a:lnTo>
                <a:lnTo>
                  <a:pt x="1509024" y="446439"/>
                </a:lnTo>
                <a:lnTo>
                  <a:pt x="0" y="446439"/>
                </a:lnTo>
                <a:lnTo>
                  <a:pt x="0" y="446439"/>
                </a:lnTo>
                <a:lnTo>
                  <a:pt x="0" y="74421"/>
                </a:lnTo>
                <a:cubicBezTo>
                  <a:pt x="0" y="33319"/>
                  <a:pt x="33319" y="0"/>
                  <a:pt x="74421" y="0"/>
                </a:cubicBezTo>
                <a:close/>
              </a:path>
            </a:pathLst>
          </a:custGeom>
          <a:solidFill>
            <a:srgbClr val="5C307D"/>
          </a:solidFill>
          <a:ln>
            <a:no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59897" tIns="59897" rIns="59897" bIns="38100" spcCol="1270" anchor="ctr"/>
          <a:lstStyle/>
          <a:p>
            <a:pPr fontAlgn="auto">
              <a:lnSpc>
                <a:spcPct val="90000"/>
              </a:lnSpc>
              <a:spcAft>
                <a:spcPct val="35000"/>
              </a:spcAft>
              <a:defRPr/>
            </a:pPr>
            <a:r>
              <a:rPr lang="zh-CN" altLang="en-US" dirty="0">
                <a:solidFill>
                  <a:schemeClr val="bg1"/>
                </a:solidFill>
                <a:ea typeface="华文楷体" pitchFamily="2" charset="-122"/>
              </a:rPr>
              <a:t>国外的研究成果</a:t>
            </a:r>
            <a:endParaRPr lang="zh-CN" altLang="en-US" dirty="0">
              <a:solidFill>
                <a:schemeClr val="bg1"/>
              </a:solidFill>
              <a:ea typeface="华文楷体" pitchFamily="2" charset="-122"/>
            </a:endParaRPr>
          </a:p>
        </p:txBody>
      </p:sp>
      <p:sp>
        <p:nvSpPr>
          <p:cNvPr id="24" name="任意多边形 23"/>
          <p:cNvSpPr/>
          <p:nvPr/>
        </p:nvSpPr>
        <p:spPr>
          <a:xfrm>
            <a:off x="4819650" y="2693988"/>
            <a:ext cx="3400425" cy="893762"/>
          </a:xfrm>
          <a:custGeom>
            <a:avLst/>
            <a:gdLst>
              <a:gd name="connsiteX0" fmla="*/ 0 w 5803941"/>
              <a:gd name="connsiteY0" fmla="*/ 0 h 893013"/>
              <a:gd name="connsiteX1" fmla="*/ 5803941 w 5803941"/>
              <a:gd name="connsiteY1" fmla="*/ 0 h 893013"/>
              <a:gd name="connsiteX2" fmla="*/ 5803941 w 5803941"/>
              <a:gd name="connsiteY2" fmla="*/ 893013 h 893013"/>
              <a:gd name="connsiteX3" fmla="*/ 0 w 5803941"/>
              <a:gd name="connsiteY3" fmla="*/ 893013 h 893013"/>
              <a:gd name="connsiteX4" fmla="*/ 0 w 5803941"/>
              <a:gd name="connsiteY4" fmla="*/ 0 h 89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941" h="893013">
                <a:moveTo>
                  <a:pt x="0" y="0"/>
                </a:moveTo>
                <a:lnTo>
                  <a:pt x="5803941" y="0"/>
                </a:lnTo>
                <a:lnTo>
                  <a:pt x="5803941" y="893013"/>
                </a:lnTo>
                <a:lnTo>
                  <a:pt x="0" y="8930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38100" tIns="38100" rIns="38100" bIns="38100" spcCol="1270"/>
          <a:lstStyle/>
          <a:p>
            <a:pPr marL="0" lvl="1" indent="-228600" fontAlgn="auto">
              <a:lnSpc>
                <a:spcPct val="90000"/>
              </a:lnSpc>
              <a:spcAft>
                <a:spcPct val="15000"/>
              </a:spcAft>
              <a:buFontTx/>
              <a:buChar char="•"/>
              <a:defRPr/>
            </a:pPr>
            <a:r>
              <a:rPr lang="zh-CN" altLang="en-US" dirty="0">
                <a:solidFill>
                  <a:schemeClr val="tx1">
                    <a:lumMod val="75000"/>
                    <a:lumOff val="25000"/>
                  </a:schemeClr>
                </a:solidFill>
                <a:ea typeface="华文楷体" pitchFamily="2" charset="-122"/>
              </a:rPr>
              <a:t>国外最显著的研究成果就是谷歌的</a:t>
            </a:r>
            <a:r>
              <a:rPr lang="en-US" altLang="zh-CN" dirty="0">
                <a:solidFill>
                  <a:schemeClr val="tx1">
                    <a:lumMod val="75000"/>
                    <a:lumOff val="25000"/>
                  </a:schemeClr>
                </a:solidFill>
                <a:ea typeface="华文楷体" pitchFamily="2" charset="-122"/>
              </a:rPr>
              <a:t>“googol”</a:t>
            </a:r>
            <a:r>
              <a:rPr lang="zh-CN" altLang="en-US" dirty="0">
                <a:solidFill>
                  <a:schemeClr val="tx1">
                    <a:lumMod val="75000"/>
                    <a:lumOff val="25000"/>
                  </a:schemeClr>
                </a:solidFill>
                <a:ea typeface="华文楷体" pitchFamily="2" charset="-122"/>
              </a:rPr>
              <a:t>。</a:t>
            </a:r>
            <a:endParaRPr lang="zh-CN" altLang="en-US" dirty="0">
              <a:solidFill>
                <a:schemeClr val="tx1">
                  <a:lumMod val="75000"/>
                  <a:lumOff val="25000"/>
                </a:schemeClr>
              </a:solidFill>
              <a:ea typeface="华文楷体" pitchFamily="2" charset="-122"/>
            </a:endParaRPr>
          </a:p>
          <a:p>
            <a:pPr marL="0" lvl="1" indent="-228600" fontAlgn="auto">
              <a:lnSpc>
                <a:spcPct val="90000"/>
              </a:lnSpc>
              <a:spcAft>
                <a:spcPct val="15000"/>
              </a:spcAft>
              <a:buFontTx/>
              <a:buChar char="•"/>
              <a:defRPr/>
            </a:pPr>
            <a:endParaRPr lang="zh-CN" altLang="en-US" dirty="0">
              <a:solidFill>
                <a:schemeClr val="tx1">
                  <a:lumMod val="75000"/>
                  <a:lumOff val="25000"/>
                </a:schemeClr>
              </a:solidFill>
              <a:ea typeface="华文楷体" pitchFamily="2" charset="-122"/>
            </a:endParaRPr>
          </a:p>
        </p:txBody>
      </p:sp>
      <p:sp>
        <p:nvSpPr>
          <p:cNvPr id="31" name="TextBox 29"/>
          <p:cNvSpPr txBox="1"/>
          <p:nvPr/>
        </p:nvSpPr>
        <p:spPr>
          <a:xfrm>
            <a:off x="254000" y="2638425"/>
            <a:ext cx="4268788" cy="1297940"/>
          </a:xfrm>
          <a:prstGeom prst="rect">
            <a:avLst/>
          </a:prstGeom>
          <a:noFill/>
        </p:spPr>
        <p:txBody>
          <a:bodyPr>
            <a:spAutoFit/>
          </a:bodyPr>
          <a:lstStyle/>
          <a:p>
            <a:pPr fontAlgn="auto">
              <a:lnSpc>
                <a:spcPct val="110000"/>
              </a:lnSpc>
              <a:spcBef>
                <a:spcPts val="0"/>
              </a:spcBef>
              <a:spcAft>
                <a:spcPts val="0"/>
              </a:spcAft>
              <a:defRPr/>
            </a:pPr>
            <a:r>
              <a:rPr lang="zh-CN" altLang="en-US" dirty="0">
                <a:solidFill>
                  <a:schemeClr val="tx1">
                    <a:lumMod val="75000"/>
                    <a:lumOff val="25000"/>
                  </a:schemeClr>
                </a:solidFill>
                <a:latin typeface="+mn-lt"/>
                <a:ea typeface="华文楷体" pitchFamily="2" charset="-122"/>
              </a:rPr>
              <a:t>在智能车领域，国外的工业强国由于起步早，高端科技发达，高端工业发展完善，同时有着政府资助，在技术上占据着明显的优势。</a:t>
            </a:r>
            <a:endParaRPr lang="zh-CN" altLang="en-US" dirty="0">
              <a:solidFill>
                <a:schemeClr val="tx1">
                  <a:lumMod val="75000"/>
                  <a:lumOff val="25000"/>
                </a:schemeClr>
              </a:solidFill>
              <a:latin typeface="+mn-lt"/>
              <a:ea typeface="华文楷体" pitchFamily="2" charset="-122"/>
            </a:endParaRPr>
          </a:p>
        </p:txBody>
      </p:sp>
      <p:cxnSp>
        <p:nvCxnSpPr>
          <p:cNvPr id="5" name="直接连接符 4"/>
          <p:cNvCxnSpPr/>
          <p:nvPr/>
        </p:nvCxnSpPr>
        <p:spPr>
          <a:xfrm>
            <a:off x="382588" y="5953125"/>
            <a:ext cx="399891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4" name="TextBox 30"/>
          <p:cNvSpPr txBox="1"/>
          <p:nvPr/>
        </p:nvSpPr>
        <p:spPr>
          <a:xfrm>
            <a:off x="687070" y="2100580"/>
            <a:ext cx="3596640" cy="457200"/>
          </a:xfrm>
          <a:prstGeom prst="rect">
            <a:avLst/>
          </a:prstGeom>
          <a:noFill/>
          <a:ln>
            <a:noFill/>
          </a:ln>
        </p:spPr>
        <p:txBody>
          <a:bodyPr wrap="square">
            <a:spAutoFit/>
          </a:bodyPr>
          <a:lstStyle/>
          <a:p>
            <a:pPr fontAlgn="auto">
              <a:spcBef>
                <a:spcPts val="0"/>
              </a:spcBef>
              <a:spcAft>
                <a:spcPts val="0"/>
              </a:spcAft>
              <a:defRPr/>
            </a:pPr>
            <a:r>
              <a:rPr lang="zh-CN" altLang="en-US" sz="2400" b="1" dirty="0">
                <a:solidFill>
                  <a:schemeClr val="tx1">
                    <a:lumMod val="75000"/>
                    <a:lumOff val="25000"/>
                  </a:schemeClr>
                </a:solidFill>
                <a:latin typeface="+mn-lt"/>
                <a:ea typeface="华文楷体" pitchFamily="2" charset="-122"/>
              </a:rPr>
              <a:t>国外研究现状</a:t>
            </a:r>
            <a:endParaRPr lang="zh-CN" altLang="en-US" sz="2400" b="1" dirty="0">
              <a:solidFill>
                <a:schemeClr val="tx1">
                  <a:lumMod val="75000"/>
                  <a:lumOff val="25000"/>
                </a:schemeClr>
              </a:solidFill>
              <a:latin typeface="+mn-lt"/>
              <a:ea typeface="华文楷体" pitchFamily="2" charset="-122"/>
            </a:endParaRPr>
          </a:p>
        </p:txBody>
      </p:sp>
      <p:sp>
        <p:nvSpPr>
          <p:cNvPr id="36" name="矩形 35"/>
          <p:cNvSpPr/>
          <p:nvPr/>
        </p:nvSpPr>
        <p:spPr>
          <a:xfrm>
            <a:off x="382588" y="2173288"/>
            <a:ext cx="269875" cy="269875"/>
          </a:xfrm>
          <a:prstGeom prst="rect">
            <a:avLst/>
          </a:prstGeom>
          <a:gradFill>
            <a:gsLst>
              <a:gs pos="0">
                <a:srgbClr val="7B32B2"/>
              </a:gs>
              <a:gs pos="100000">
                <a:srgbClr val="401A5D"/>
              </a:gs>
            </a:gsLst>
            <a:lin ang="5400000" scaled="0"/>
          </a:gradFill>
          <a:ln>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文本框 1"/>
          <p:cNvSpPr txBox="1"/>
          <p:nvPr/>
        </p:nvSpPr>
        <p:spPr>
          <a:xfrm>
            <a:off x="395605" y="260985"/>
            <a:ext cx="4320000" cy="720000"/>
          </a:xfrm>
          <a:prstGeom prst="rect">
            <a:avLst/>
          </a:prstGeom>
          <a:noFill/>
        </p:spPr>
        <p:txBody>
          <a:bodyPr wrap="square" rtlCol="0">
            <a:spAutoFit/>
          </a:bodyPr>
          <a:p>
            <a:r>
              <a:rPr lang="zh-CN" altLang="en-US" sz="3600" i="1">
                <a:latin typeface="楷体" charset="0"/>
                <a:ea typeface="楷体" charset="0"/>
              </a:rPr>
              <a:t>辽宁工程技术大学</a:t>
            </a:r>
            <a:endParaRPr lang="zh-CN" altLang="en-US" sz="3600" i="1">
              <a:latin typeface="楷体" charset="0"/>
              <a:ea typeface="楷体" charset="0"/>
            </a:endParaRPr>
          </a:p>
        </p:txBody>
      </p:sp>
      <p:pic>
        <p:nvPicPr>
          <p:cNvPr id="7" name="图片 6" descr="103872820"/>
          <p:cNvPicPr>
            <a:picLocks noChangeAspect="1"/>
          </p:cNvPicPr>
          <p:nvPr/>
        </p:nvPicPr>
        <p:blipFill>
          <a:blip r:embed="rId1"/>
          <a:stretch>
            <a:fillRect/>
          </a:stretch>
        </p:blipFill>
        <p:spPr>
          <a:xfrm>
            <a:off x="4931410" y="3429000"/>
            <a:ext cx="3653155" cy="237363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75" y="0"/>
            <a:ext cx="9147175" cy="46038"/>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6" name="直接连接符 5"/>
          <p:cNvCxnSpPr/>
          <p:nvPr/>
        </p:nvCxnSpPr>
        <p:spPr>
          <a:xfrm>
            <a:off x="-14288" y="1201738"/>
            <a:ext cx="91471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175" y="6640513"/>
            <a:ext cx="9147175" cy="217487"/>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437" name="文本框 10"/>
          <p:cNvSpPr txBox="1">
            <a:spLocks noChangeArrowheads="1"/>
          </p:cNvSpPr>
          <p:nvPr/>
        </p:nvSpPr>
        <p:spPr bwMode="auto">
          <a:xfrm>
            <a:off x="258604" y="1303338"/>
            <a:ext cx="1097280" cy="365760"/>
          </a:xfrm>
          <a:prstGeom prst="rect">
            <a:avLst/>
          </a:prstGeom>
          <a:solidFill>
            <a:srgbClr val="5C307D"/>
          </a:solidFill>
          <a:ln w="9525">
            <a:noFill/>
            <a:miter lim="800000"/>
          </a:ln>
        </p:spPr>
        <p:txBody>
          <a:bodyPr wrap="none">
            <a:spAutoFit/>
          </a:bodyPr>
          <a:lstStyle/>
          <a:p>
            <a:pPr algn="ctr"/>
            <a:r>
              <a:rPr lang="zh-CN" altLang="en-US">
                <a:solidFill>
                  <a:schemeClr val="bg1"/>
                </a:solidFill>
                <a:latin typeface="华文楷体"/>
                <a:ea typeface="华文楷体"/>
                <a:cs typeface="华文楷体"/>
              </a:rPr>
              <a:t>选题背景</a:t>
            </a:r>
            <a:endParaRPr lang="zh-CN" altLang="en-US">
              <a:solidFill>
                <a:schemeClr val="bg1"/>
              </a:solidFill>
              <a:latin typeface="华文楷体"/>
              <a:ea typeface="华文楷体"/>
              <a:cs typeface="华文楷体"/>
            </a:endParaRPr>
          </a:p>
        </p:txBody>
      </p:sp>
      <p:sp>
        <p:nvSpPr>
          <p:cNvPr id="18438" name="文本框 11"/>
          <p:cNvSpPr txBox="1">
            <a:spLocks noChangeArrowheads="1"/>
          </p:cNvSpPr>
          <p:nvPr/>
        </p:nvSpPr>
        <p:spPr bwMode="auto">
          <a:xfrm>
            <a:off x="1515110"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选题意义</a:t>
            </a:r>
            <a:endParaRPr lang="zh-CN" altLang="en-US">
              <a:solidFill>
                <a:schemeClr val="tx1"/>
              </a:solidFill>
              <a:latin typeface="华文楷体"/>
              <a:ea typeface="华文楷体"/>
              <a:cs typeface="华文楷体"/>
            </a:endParaRPr>
          </a:p>
        </p:txBody>
      </p:sp>
      <p:sp>
        <p:nvSpPr>
          <p:cNvPr id="18439" name="文本框 12"/>
          <p:cNvSpPr txBox="1">
            <a:spLocks noChangeArrowheads="1"/>
          </p:cNvSpPr>
          <p:nvPr/>
        </p:nvSpPr>
        <p:spPr bwMode="auto">
          <a:xfrm>
            <a:off x="27724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研究过程</a:t>
            </a:r>
            <a:endParaRPr lang="zh-CN" altLang="en-US">
              <a:latin typeface="华文楷体"/>
              <a:ea typeface="华文楷体"/>
              <a:cs typeface="华文楷体"/>
            </a:endParaRPr>
          </a:p>
        </p:txBody>
      </p:sp>
      <p:sp>
        <p:nvSpPr>
          <p:cNvPr id="18440" name="文本框 13"/>
          <p:cNvSpPr txBox="1">
            <a:spLocks noChangeArrowheads="1"/>
          </p:cNvSpPr>
          <p:nvPr/>
        </p:nvSpPr>
        <p:spPr bwMode="auto">
          <a:xfrm>
            <a:off x="40297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研究结论</a:t>
            </a:r>
            <a:endParaRPr lang="zh-CN" altLang="en-US">
              <a:latin typeface="华文楷体"/>
              <a:ea typeface="华文楷体"/>
              <a:cs typeface="华文楷体"/>
            </a:endParaRPr>
          </a:p>
        </p:txBody>
      </p:sp>
      <p:sp>
        <p:nvSpPr>
          <p:cNvPr id="23" name="任意多边形 22"/>
          <p:cNvSpPr/>
          <p:nvPr/>
        </p:nvSpPr>
        <p:spPr>
          <a:xfrm>
            <a:off x="4879975" y="2075180"/>
            <a:ext cx="1728000" cy="432000"/>
          </a:xfrm>
          <a:custGeom>
            <a:avLst/>
            <a:gdLst>
              <a:gd name="connsiteX0" fmla="*/ 74421 w 1509024"/>
              <a:gd name="connsiteY0" fmla="*/ 0 h 446439"/>
              <a:gd name="connsiteX1" fmla="*/ 1434603 w 1509024"/>
              <a:gd name="connsiteY1" fmla="*/ 0 h 446439"/>
              <a:gd name="connsiteX2" fmla="*/ 1509024 w 1509024"/>
              <a:gd name="connsiteY2" fmla="*/ 74421 h 446439"/>
              <a:gd name="connsiteX3" fmla="*/ 1509024 w 1509024"/>
              <a:gd name="connsiteY3" fmla="*/ 446439 h 446439"/>
              <a:gd name="connsiteX4" fmla="*/ 1509024 w 1509024"/>
              <a:gd name="connsiteY4" fmla="*/ 446439 h 446439"/>
              <a:gd name="connsiteX5" fmla="*/ 0 w 1509024"/>
              <a:gd name="connsiteY5" fmla="*/ 446439 h 446439"/>
              <a:gd name="connsiteX6" fmla="*/ 0 w 1509024"/>
              <a:gd name="connsiteY6" fmla="*/ 446439 h 446439"/>
              <a:gd name="connsiteX7" fmla="*/ 0 w 1509024"/>
              <a:gd name="connsiteY7" fmla="*/ 74421 h 446439"/>
              <a:gd name="connsiteX8" fmla="*/ 74421 w 1509024"/>
              <a:gd name="connsiteY8" fmla="*/ 0 h 44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024" h="446439">
                <a:moveTo>
                  <a:pt x="74421" y="0"/>
                </a:moveTo>
                <a:lnTo>
                  <a:pt x="1434603" y="0"/>
                </a:lnTo>
                <a:cubicBezTo>
                  <a:pt x="1475705" y="0"/>
                  <a:pt x="1509024" y="33319"/>
                  <a:pt x="1509024" y="74421"/>
                </a:cubicBezTo>
                <a:lnTo>
                  <a:pt x="1509024" y="446439"/>
                </a:lnTo>
                <a:lnTo>
                  <a:pt x="1509024" y="446439"/>
                </a:lnTo>
                <a:lnTo>
                  <a:pt x="0" y="446439"/>
                </a:lnTo>
                <a:lnTo>
                  <a:pt x="0" y="446439"/>
                </a:lnTo>
                <a:lnTo>
                  <a:pt x="0" y="74421"/>
                </a:lnTo>
                <a:cubicBezTo>
                  <a:pt x="0" y="33319"/>
                  <a:pt x="33319" y="0"/>
                  <a:pt x="74421" y="0"/>
                </a:cubicBezTo>
                <a:close/>
              </a:path>
            </a:pathLst>
          </a:custGeom>
          <a:solidFill>
            <a:srgbClr val="5C307D"/>
          </a:solidFill>
          <a:ln>
            <a:no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59897" tIns="59897" rIns="59897" bIns="38100" spcCol="1270" anchor="ctr"/>
          <a:lstStyle/>
          <a:p>
            <a:pPr fontAlgn="auto">
              <a:lnSpc>
                <a:spcPct val="90000"/>
              </a:lnSpc>
              <a:spcAft>
                <a:spcPct val="35000"/>
              </a:spcAft>
              <a:defRPr/>
            </a:pPr>
            <a:r>
              <a:rPr lang="zh-CN" altLang="en-US" dirty="0">
                <a:solidFill>
                  <a:schemeClr val="bg1"/>
                </a:solidFill>
                <a:ea typeface="华文楷体" pitchFamily="2" charset="-122"/>
              </a:rPr>
              <a:t>国内的研究成果</a:t>
            </a:r>
            <a:endParaRPr lang="zh-CN" altLang="en-US" dirty="0">
              <a:solidFill>
                <a:schemeClr val="bg1"/>
              </a:solidFill>
              <a:ea typeface="华文楷体" pitchFamily="2" charset="-122"/>
            </a:endParaRPr>
          </a:p>
        </p:txBody>
      </p:sp>
      <p:sp>
        <p:nvSpPr>
          <p:cNvPr id="24" name="任意多边形 23"/>
          <p:cNvSpPr/>
          <p:nvPr/>
        </p:nvSpPr>
        <p:spPr>
          <a:xfrm>
            <a:off x="4819650" y="2693988"/>
            <a:ext cx="3400425" cy="893762"/>
          </a:xfrm>
          <a:custGeom>
            <a:avLst/>
            <a:gdLst>
              <a:gd name="connsiteX0" fmla="*/ 0 w 5803941"/>
              <a:gd name="connsiteY0" fmla="*/ 0 h 893013"/>
              <a:gd name="connsiteX1" fmla="*/ 5803941 w 5803941"/>
              <a:gd name="connsiteY1" fmla="*/ 0 h 893013"/>
              <a:gd name="connsiteX2" fmla="*/ 5803941 w 5803941"/>
              <a:gd name="connsiteY2" fmla="*/ 893013 h 893013"/>
              <a:gd name="connsiteX3" fmla="*/ 0 w 5803941"/>
              <a:gd name="connsiteY3" fmla="*/ 893013 h 893013"/>
              <a:gd name="connsiteX4" fmla="*/ 0 w 5803941"/>
              <a:gd name="connsiteY4" fmla="*/ 0 h 89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941" h="893013">
                <a:moveTo>
                  <a:pt x="0" y="0"/>
                </a:moveTo>
                <a:lnTo>
                  <a:pt x="5803941" y="0"/>
                </a:lnTo>
                <a:lnTo>
                  <a:pt x="5803941" y="893013"/>
                </a:lnTo>
                <a:lnTo>
                  <a:pt x="0" y="8930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38100" tIns="38100" rIns="38100" bIns="38100" spcCol="1270"/>
          <a:lstStyle/>
          <a:p>
            <a:pPr marL="0" lvl="1" indent="0" fontAlgn="auto">
              <a:lnSpc>
                <a:spcPct val="90000"/>
              </a:lnSpc>
              <a:spcAft>
                <a:spcPct val="15000"/>
              </a:spcAft>
              <a:buFontTx/>
              <a:buNone/>
              <a:defRPr/>
            </a:pPr>
            <a:r>
              <a:rPr lang="zh-CN" altLang="en-US" dirty="0">
                <a:solidFill>
                  <a:schemeClr val="tx1">
                    <a:lumMod val="75000"/>
                    <a:lumOff val="25000"/>
                  </a:schemeClr>
                </a:solidFill>
                <a:ea typeface="华文楷体" pitchFamily="2" charset="-122"/>
              </a:rPr>
              <a:t>国内有众多高校和大公司同时在研究无人车，都有了一定的研究成果，下图百度无人车。</a:t>
            </a:r>
            <a:endParaRPr lang="zh-CN" altLang="en-US" dirty="0">
              <a:solidFill>
                <a:schemeClr val="tx1">
                  <a:lumMod val="75000"/>
                  <a:lumOff val="25000"/>
                </a:schemeClr>
              </a:solidFill>
              <a:ea typeface="华文楷体" pitchFamily="2" charset="-122"/>
            </a:endParaRPr>
          </a:p>
        </p:txBody>
      </p:sp>
      <p:sp>
        <p:nvSpPr>
          <p:cNvPr id="31" name="TextBox 29"/>
          <p:cNvSpPr txBox="1"/>
          <p:nvPr/>
        </p:nvSpPr>
        <p:spPr>
          <a:xfrm>
            <a:off x="254000" y="2638425"/>
            <a:ext cx="4268788" cy="1901190"/>
          </a:xfrm>
          <a:prstGeom prst="rect">
            <a:avLst/>
          </a:prstGeom>
          <a:noFill/>
        </p:spPr>
        <p:txBody>
          <a:bodyPr>
            <a:spAutoFit/>
          </a:bodyPr>
          <a:lstStyle/>
          <a:p>
            <a:pPr fontAlgn="auto">
              <a:lnSpc>
                <a:spcPct val="110000"/>
              </a:lnSpc>
              <a:spcBef>
                <a:spcPts val="0"/>
              </a:spcBef>
              <a:spcAft>
                <a:spcPts val="0"/>
              </a:spcAft>
              <a:defRPr/>
            </a:pPr>
            <a:r>
              <a:rPr lang="zh-CN" altLang="en-US" dirty="0">
                <a:solidFill>
                  <a:schemeClr val="tx1">
                    <a:lumMod val="75000"/>
                    <a:lumOff val="25000"/>
                  </a:schemeClr>
                </a:solidFill>
                <a:latin typeface="+mn-lt"/>
                <a:ea typeface="华文楷体" pitchFamily="2" charset="-122"/>
                <a:sym typeface="+mn-ea"/>
              </a:rPr>
              <a:t>国内的智能车起步较晚，但是国家也一直在大力支持，同时每年都有相应的比赛，鼓励大学生参与和创新，最近几年国内一些资金和技术雄厚的公司也在进行相应的研究与开发，但与国际还存在着一定差距。</a:t>
            </a:r>
            <a:endParaRPr lang="zh-CN" altLang="en-US" dirty="0">
              <a:solidFill>
                <a:schemeClr val="tx1">
                  <a:lumMod val="75000"/>
                  <a:lumOff val="25000"/>
                </a:schemeClr>
              </a:solidFill>
              <a:latin typeface="+mn-lt"/>
              <a:ea typeface="华文楷体" pitchFamily="2" charset="-122"/>
            </a:endParaRPr>
          </a:p>
        </p:txBody>
      </p:sp>
      <p:cxnSp>
        <p:nvCxnSpPr>
          <p:cNvPr id="5" name="直接连接符 4"/>
          <p:cNvCxnSpPr/>
          <p:nvPr/>
        </p:nvCxnSpPr>
        <p:spPr>
          <a:xfrm>
            <a:off x="382588" y="5953125"/>
            <a:ext cx="399891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4" name="TextBox 30"/>
          <p:cNvSpPr txBox="1"/>
          <p:nvPr/>
        </p:nvSpPr>
        <p:spPr>
          <a:xfrm>
            <a:off x="687070" y="2100580"/>
            <a:ext cx="3596640" cy="457200"/>
          </a:xfrm>
          <a:prstGeom prst="rect">
            <a:avLst/>
          </a:prstGeom>
          <a:noFill/>
          <a:ln>
            <a:noFill/>
          </a:ln>
        </p:spPr>
        <p:txBody>
          <a:bodyPr wrap="square">
            <a:spAutoFit/>
          </a:bodyPr>
          <a:lstStyle/>
          <a:p>
            <a:pPr fontAlgn="auto">
              <a:spcBef>
                <a:spcPts val="0"/>
              </a:spcBef>
              <a:spcAft>
                <a:spcPts val="0"/>
              </a:spcAft>
              <a:defRPr/>
            </a:pPr>
            <a:r>
              <a:rPr lang="zh-CN" altLang="en-US" sz="2400" b="1" dirty="0">
                <a:solidFill>
                  <a:schemeClr val="tx1">
                    <a:lumMod val="75000"/>
                    <a:lumOff val="25000"/>
                  </a:schemeClr>
                </a:solidFill>
                <a:latin typeface="+mn-lt"/>
                <a:ea typeface="华文楷体" pitchFamily="2" charset="-122"/>
              </a:rPr>
              <a:t>国内研究现状</a:t>
            </a:r>
            <a:endParaRPr lang="zh-CN" altLang="en-US" sz="2400" b="1" dirty="0">
              <a:solidFill>
                <a:schemeClr val="tx1">
                  <a:lumMod val="75000"/>
                  <a:lumOff val="25000"/>
                </a:schemeClr>
              </a:solidFill>
              <a:latin typeface="+mn-lt"/>
              <a:ea typeface="华文楷体" pitchFamily="2" charset="-122"/>
            </a:endParaRPr>
          </a:p>
        </p:txBody>
      </p:sp>
      <p:sp>
        <p:nvSpPr>
          <p:cNvPr id="36" name="矩形 35"/>
          <p:cNvSpPr/>
          <p:nvPr/>
        </p:nvSpPr>
        <p:spPr>
          <a:xfrm>
            <a:off x="382588" y="2173288"/>
            <a:ext cx="269875" cy="269875"/>
          </a:xfrm>
          <a:prstGeom prst="rect">
            <a:avLst/>
          </a:prstGeom>
          <a:gradFill>
            <a:gsLst>
              <a:gs pos="0">
                <a:srgbClr val="7B32B2"/>
              </a:gs>
              <a:gs pos="100000">
                <a:srgbClr val="401A5D"/>
              </a:gs>
            </a:gsLst>
            <a:lin ang="5400000" scaled="0"/>
          </a:gradFill>
          <a:ln>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文本框 1"/>
          <p:cNvSpPr txBox="1"/>
          <p:nvPr/>
        </p:nvSpPr>
        <p:spPr>
          <a:xfrm>
            <a:off x="395605" y="260985"/>
            <a:ext cx="4320000" cy="720000"/>
          </a:xfrm>
          <a:prstGeom prst="rect">
            <a:avLst/>
          </a:prstGeom>
          <a:noFill/>
        </p:spPr>
        <p:txBody>
          <a:bodyPr wrap="square" rtlCol="0">
            <a:spAutoFit/>
          </a:bodyPr>
          <a:p>
            <a:r>
              <a:rPr lang="zh-CN" altLang="en-US" sz="3600" i="1">
                <a:latin typeface="楷体" charset="0"/>
                <a:ea typeface="楷体" charset="0"/>
              </a:rPr>
              <a:t>辽宁工程技术大学</a:t>
            </a:r>
            <a:endParaRPr lang="zh-CN" altLang="en-US" sz="3600" i="1">
              <a:latin typeface="楷体" charset="0"/>
              <a:ea typeface="楷体" charset="0"/>
            </a:endParaRPr>
          </a:p>
        </p:txBody>
      </p:sp>
      <p:pic>
        <p:nvPicPr>
          <p:cNvPr id="4" name="图片 3" descr="1465700631399"/>
          <p:cNvPicPr>
            <a:picLocks noChangeAspect="1"/>
          </p:cNvPicPr>
          <p:nvPr/>
        </p:nvPicPr>
        <p:blipFill>
          <a:blip r:embed="rId1"/>
          <a:stretch>
            <a:fillRect/>
          </a:stretch>
        </p:blipFill>
        <p:spPr>
          <a:xfrm>
            <a:off x="4859655" y="3717290"/>
            <a:ext cx="3293110" cy="212344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75" y="0"/>
            <a:ext cx="9147175" cy="46038"/>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6" name="直接连接符 5"/>
          <p:cNvCxnSpPr/>
          <p:nvPr/>
        </p:nvCxnSpPr>
        <p:spPr>
          <a:xfrm>
            <a:off x="-14288" y="1201738"/>
            <a:ext cx="91471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175" y="6640513"/>
            <a:ext cx="9147175" cy="217487"/>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437" name="文本框 10"/>
          <p:cNvSpPr txBox="1">
            <a:spLocks noChangeArrowheads="1"/>
          </p:cNvSpPr>
          <p:nvPr/>
        </p:nvSpPr>
        <p:spPr bwMode="auto">
          <a:xfrm>
            <a:off x="258604"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选题背景</a:t>
            </a:r>
            <a:endParaRPr lang="zh-CN" altLang="en-US">
              <a:solidFill>
                <a:schemeClr val="tx1"/>
              </a:solidFill>
              <a:latin typeface="华文楷体"/>
              <a:ea typeface="华文楷体"/>
              <a:cs typeface="华文楷体"/>
            </a:endParaRPr>
          </a:p>
        </p:txBody>
      </p:sp>
      <p:sp>
        <p:nvSpPr>
          <p:cNvPr id="18438" name="文本框 11"/>
          <p:cNvSpPr txBox="1">
            <a:spLocks noChangeArrowheads="1"/>
          </p:cNvSpPr>
          <p:nvPr/>
        </p:nvSpPr>
        <p:spPr bwMode="auto">
          <a:xfrm>
            <a:off x="1515110" y="1303338"/>
            <a:ext cx="1097280" cy="365760"/>
          </a:xfrm>
          <a:prstGeom prst="rect">
            <a:avLst/>
          </a:prstGeom>
          <a:solidFill>
            <a:srgbClr val="5C307D"/>
          </a:solid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选题意义</a:t>
            </a:r>
            <a:endParaRPr lang="zh-CN" altLang="en-US">
              <a:solidFill>
                <a:schemeClr val="tx1"/>
              </a:solidFill>
              <a:latin typeface="华文楷体"/>
              <a:ea typeface="华文楷体"/>
              <a:cs typeface="华文楷体"/>
            </a:endParaRPr>
          </a:p>
        </p:txBody>
      </p:sp>
      <p:sp>
        <p:nvSpPr>
          <p:cNvPr id="18439" name="文本框 12"/>
          <p:cNvSpPr txBox="1">
            <a:spLocks noChangeArrowheads="1"/>
          </p:cNvSpPr>
          <p:nvPr/>
        </p:nvSpPr>
        <p:spPr bwMode="auto">
          <a:xfrm>
            <a:off x="27724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研究过程</a:t>
            </a:r>
            <a:endParaRPr lang="zh-CN" altLang="en-US">
              <a:latin typeface="华文楷体"/>
              <a:ea typeface="华文楷体"/>
              <a:cs typeface="华文楷体"/>
            </a:endParaRPr>
          </a:p>
        </p:txBody>
      </p:sp>
      <p:sp>
        <p:nvSpPr>
          <p:cNvPr id="18440" name="文本框 13"/>
          <p:cNvSpPr txBox="1">
            <a:spLocks noChangeArrowheads="1"/>
          </p:cNvSpPr>
          <p:nvPr/>
        </p:nvSpPr>
        <p:spPr bwMode="auto">
          <a:xfrm>
            <a:off x="40297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研究结论</a:t>
            </a:r>
            <a:endParaRPr lang="zh-CN" altLang="en-US">
              <a:latin typeface="华文楷体"/>
              <a:ea typeface="华文楷体"/>
              <a:cs typeface="华文楷体"/>
            </a:endParaRPr>
          </a:p>
        </p:txBody>
      </p:sp>
      <p:grpSp>
        <p:nvGrpSpPr>
          <p:cNvPr id="18444" name="组合 17"/>
          <p:cNvGrpSpPr/>
          <p:nvPr/>
        </p:nvGrpSpPr>
        <p:grpSpPr bwMode="auto">
          <a:xfrm>
            <a:off x="4879975" y="2520950"/>
            <a:ext cx="3171825" cy="1362075"/>
            <a:chOff x="4572000" y="2445108"/>
            <a:chExt cx="5803941" cy="1361775"/>
          </a:xfrm>
        </p:grpSpPr>
        <p:sp>
          <p:nvSpPr>
            <p:cNvPr id="20" name="直接连接符 19"/>
            <p:cNvSpPr/>
            <p:nvPr/>
          </p:nvSpPr>
          <p:spPr>
            <a:xfrm>
              <a:off x="4572000" y="3806883"/>
              <a:ext cx="5803941" cy="0"/>
            </a:xfrm>
            <a:prstGeom prst="line">
              <a:avLst/>
            </a:prstGeom>
            <a:ln>
              <a:solidFill>
                <a:schemeClr val="tx1">
                  <a:lumMod val="75000"/>
                  <a:lumOff val="2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21" name="直接连接符 20"/>
            <p:cNvSpPr/>
            <p:nvPr/>
          </p:nvSpPr>
          <p:spPr>
            <a:xfrm>
              <a:off x="4572000" y="2445108"/>
              <a:ext cx="5803941" cy="0"/>
            </a:xfrm>
            <a:prstGeom prst="line">
              <a:avLst/>
            </a:prstGeom>
            <a:ln>
              <a:solidFill>
                <a:schemeClr val="tx1">
                  <a:lumMod val="75000"/>
                  <a:lumOff val="2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grpSp>
      <p:sp>
        <p:nvSpPr>
          <p:cNvPr id="23" name="任意多边形 22"/>
          <p:cNvSpPr/>
          <p:nvPr/>
        </p:nvSpPr>
        <p:spPr>
          <a:xfrm>
            <a:off x="4879975" y="2075180"/>
            <a:ext cx="468000" cy="432000"/>
          </a:xfrm>
          <a:custGeom>
            <a:avLst/>
            <a:gdLst>
              <a:gd name="connsiteX0" fmla="*/ 74421 w 1509024"/>
              <a:gd name="connsiteY0" fmla="*/ 0 h 446439"/>
              <a:gd name="connsiteX1" fmla="*/ 1434603 w 1509024"/>
              <a:gd name="connsiteY1" fmla="*/ 0 h 446439"/>
              <a:gd name="connsiteX2" fmla="*/ 1509024 w 1509024"/>
              <a:gd name="connsiteY2" fmla="*/ 74421 h 446439"/>
              <a:gd name="connsiteX3" fmla="*/ 1509024 w 1509024"/>
              <a:gd name="connsiteY3" fmla="*/ 446439 h 446439"/>
              <a:gd name="connsiteX4" fmla="*/ 1509024 w 1509024"/>
              <a:gd name="connsiteY4" fmla="*/ 446439 h 446439"/>
              <a:gd name="connsiteX5" fmla="*/ 0 w 1509024"/>
              <a:gd name="connsiteY5" fmla="*/ 446439 h 446439"/>
              <a:gd name="connsiteX6" fmla="*/ 0 w 1509024"/>
              <a:gd name="connsiteY6" fmla="*/ 446439 h 446439"/>
              <a:gd name="connsiteX7" fmla="*/ 0 w 1509024"/>
              <a:gd name="connsiteY7" fmla="*/ 74421 h 446439"/>
              <a:gd name="connsiteX8" fmla="*/ 74421 w 1509024"/>
              <a:gd name="connsiteY8" fmla="*/ 0 h 44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024" h="446439">
                <a:moveTo>
                  <a:pt x="74421" y="0"/>
                </a:moveTo>
                <a:lnTo>
                  <a:pt x="1434603" y="0"/>
                </a:lnTo>
                <a:cubicBezTo>
                  <a:pt x="1475705" y="0"/>
                  <a:pt x="1509024" y="33319"/>
                  <a:pt x="1509024" y="74421"/>
                </a:cubicBezTo>
                <a:lnTo>
                  <a:pt x="1509024" y="446439"/>
                </a:lnTo>
                <a:lnTo>
                  <a:pt x="1509024" y="446439"/>
                </a:lnTo>
                <a:lnTo>
                  <a:pt x="0" y="446439"/>
                </a:lnTo>
                <a:lnTo>
                  <a:pt x="0" y="446439"/>
                </a:lnTo>
                <a:lnTo>
                  <a:pt x="0" y="74421"/>
                </a:lnTo>
                <a:cubicBezTo>
                  <a:pt x="0" y="33319"/>
                  <a:pt x="33319" y="0"/>
                  <a:pt x="74421" y="0"/>
                </a:cubicBezTo>
                <a:close/>
              </a:path>
            </a:pathLst>
          </a:custGeom>
          <a:solidFill>
            <a:srgbClr val="5C307D"/>
          </a:solidFill>
          <a:ln>
            <a:no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0" tIns="0" rIns="0" bIns="0" spcCol="1270" anchor="ctr"/>
          <a:lstStyle/>
          <a:p>
            <a:pPr fontAlgn="auto">
              <a:lnSpc>
                <a:spcPct val="90000"/>
              </a:lnSpc>
              <a:spcAft>
                <a:spcPct val="35000"/>
              </a:spcAft>
              <a:defRPr/>
            </a:pPr>
            <a:r>
              <a:rPr lang="zh-CN" altLang="en-US" dirty="0">
                <a:solidFill>
                  <a:schemeClr val="bg1"/>
                </a:solidFill>
                <a:ea typeface="华文楷体" pitchFamily="2" charset="-122"/>
              </a:rPr>
              <a:t>意义</a:t>
            </a:r>
            <a:endParaRPr lang="zh-CN" altLang="en-US" dirty="0">
              <a:solidFill>
                <a:schemeClr val="bg1"/>
              </a:solidFill>
              <a:ea typeface="华文楷体" pitchFamily="2" charset="-122"/>
            </a:endParaRPr>
          </a:p>
        </p:txBody>
      </p:sp>
      <p:sp>
        <p:nvSpPr>
          <p:cNvPr id="24" name="任意多边形 23"/>
          <p:cNvSpPr/>
          <p:nvPr/>
        </p:nvSpPr>
        <p:spPr>
          <a:xfrm>
            <a:off x="4819650" y="2693988"/>
            <a:ext cx="3400425" cy="893762"/>
          </a:xfrm>
          <a:custGeom>
            <a:avLst/>
            <a:gdLst>
              <a:gd name="connsiteX0" fmla="*/ 0 w 5803941"/>
              <a:gd name="connsiteY0" fmla="*/ 0 h 893013"/>
              <a:gd name="connsiteX1" fmla="*/ 5803941 w 5803941"/>
              <a:gd name="connsiteY1" fmla="*/ 0 h 893013"/>
              <a:gd name="connsiteX2" fmla="*/ 5803941 w 5803941"/>
              <a:gd name="connsiteY2" fmla="*/ 893013 h 893013"/>
              <a:gd name="connsiteX3" fmla="*/ 0 w 5803941"/>
              <a:gd name="connsiteY3" fmla="*/ 893013 h 893013"/>
              <a:gd name="connsiteX4" fmla="*/ 0 w 5803941"/>
              <a:gd name="connsiteY4" fmla="*/ 0 h 89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941" h="893013">
                <a:moveTo>
                  <a:pt x="0" y="0"/>
                </a:moveTo>
                <a:lnTo>
                  <a:pt x="5803941" y="0"/>
                </a:lnTo>
                <a:lnTo>
                  <a:pt x="5803941" y="893013"/>
                </a:lnTo>
                <a:lnTo>
                  <a:pt x="0" y="8930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38100" tIns="38100" rIns="38100" bIns="38100" spcCol="1270"/>
          <a:lstStyle/>
          <a:p>
            <a:pPr marL="0" lvl="1" indent="0" fontAlgn="auto">
              <a:lnSpc>
                <a:spcPct val="90000"/>
              </a:lnSpc>
              <a:spcAft>
                <a:spcPct val="15000"/>
              </a:spcAft>
              <a:buFontTx/>
              <a:buNone/>
              <a:defRPr/>
            </a:pPr>
            <a:r>
              <a:rPr lang="zh-CN" altLang="en-US" dirty="0">
                <a:solidFill>
                  <a:schemeClr val="tx1">
                    <a:lumMod val="75000"/>
                    <a:lumOff val="25000"/>
                  </a:schemeClr>
                </a:solidFill>
                <a:ea typeface="华文楷体" pitchFamily="2" charset="-122"/>
              </a:rPr>
              <a:t>可以更好地了解单片机相关的知识。</a:t>
            </a:r>
            <a:endParaRPr lang="zh-CN" altLang="en-US" dirty="0">
              <a:solidFill>
                <a:schemeClr val="tx1">
                  <a:lumMod val="75000"/>
                  <a:lumOff val="25000"/>
                </a:schemeClr>
              </a:solidFill>
              <a:ea typeface="华文楷体" pitchFamily="2" charset="-122"/>
            </a:endParaRPr>
          </a:p>
        </p:txBody>
      </p:sp>
      <p:sp>
        <p:nvSpPr>
          <p:cNvPr id="25" name="任意多边形 24"/>
          <p:cNvSpPr/>
          <p:nvPr/>
        </p:nvSpPr>
        <p:spPr>
          <a:xfrm>
            <a:off x="4879975" y="3436938"/>
            <a:ext cx="468000" cy="432000"/>
          </a:xfrm>
          <a:custGeom>
            <a:avLst/>
            <a:gdLst>
              <a:gd name="connsiteX0" fmla="*/ 74421 w 1509024"/>
              <a:gd name="connsiteY0" fmla="*/ 0 h 446439"/>
              <a:gd name="connsiteX1" fmla="*/ 1434603 w 1509024"/>
              <a:gd name="connsiteY1" fmla="*/ 0 h 446439"/>
              <a:gd name="connsiteX2" fmla="*/ 1509024 w 1509024"/>
              <a:gd name="connsiteY2" fmla="*/ 74421 h 446439"/>
              <a:gd name="connsiteX3" fmla="*/ 1509024 w 1509024"/>
              <a:gd name="connsiteY3" fmla="*/ 446439 h 446439"/>
              <a:gd name="connsiteX4" fmla="*/ 1509024 w 1509024"/>
              <a:gd name="connsiteY4" fmla="*/ 446439 h 446439"/>
              <a:gd name="connsiteX5" fmla="*/ 0 w 1509024"/>
              <a:gd name="connsiteY5" fmla="*/ 446439 h 446439"/>
              <a:gd name="connsiteX6" fmla="*/ 0 w 1509024"/>
              <a:gd name="connsiteY6" fmla="*/ 446439 h 446439"/>
              <a:gd name="connsiteX7" fmla="*/ 0 w 1509024"/>
              <a:gd name="connsiteY7" fmla="*/ 74421 h 446439"/>
              <a:gd name="connsiteX8" fmla="*/ 74421 w 1509024"/>
              <a:gd name="connsiteY8" fmla="*/ 0 h 44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024" h="446439">
                <a:moveTo>
                  <a:pt x="74421" y="0"/>
                </a:moveTo>
                <a:lnTo>
                  <a:pt x="1434603" y="0"/>
                </a:lnTo>
                <a:cubicBezTo>
                  <a:pt x="1475705" y="0"/>
                  <a:pt x="1509024" y="33319"/>
                  <a:pt x="1509024" y="74421"/>
                </a:cubicBezTo>
                <a:lnTo>
                  <a:pt x="1509024" y="446439"/>
                </a:lnTo>
                <a:lnTo>
                  <a:pt x="1509024" y="446439"/>
                </a:lnTo>
                <a:lnTo>
                  <a:pt x="0" y="446439"/>
                </a:lnTo>
                <a:lnTo>
                  <a:pt x="0" y="446439"/>
                </a:lnTo>
                <a:lnTo>
                  <a:pt x="0" y="74421"/>
                </a:lnTo>
                <a:cubicBezTo>
                  <a:pt x="0" y="33319"/>
                  <a:pt x="33319" y="0"/>
                  <a:pt x="74421" y="0"/>
                </a:cubicBezTo>
                <a:close/>
              </a:path>
            </a:pathLst>
          </a:custGeom>
          <a:solidFill>
            <a:srgbClr val="5C307D"/>
          </a:solidFill>
          <a:ln>
            <a:no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0" tIns="0" rIns="0" bIns="0" spcCol="1270" anchor="ctr"/>
          <a:lstStyle/>
          <a:p>
            <a:pPr fontAlgn="auto">
              <a:lnSpc>
                <a:spcPct val="90000"/>
              </a:lnSpc>
              <a:spcAft>
                <a:spcPct val="35000"/>
              </a:spcAft>
              <a:defRPr/>
            </a:pPr>
            <a:r>
              <a:rPr lang="zh-CN" altLang="en-US" dirty="0">
                <a:solidFill>
                  <a:schemeClr val="bg1"/>
                </a:solidFill>
                <a:ea typeface="华文楷体" pitchFamily="2" charset="-122"/>
              </a:rPr>
              <a:t>目的</a:t>
            </a:r>
            <a:endParaRPr lang="zh-CN" altLang="en-US" dirty="0">
              <a:solidFill>
                <a:schemeClr val="bg1"/>
              </a:solidFill>
              <a:ea typeface="华文楷体" pitchFamily="2" charset="-122"/>
            </a:endParaRPr>
          </a:p>
        </p:txBody>
      </p:sp>
      <p:sp>
        <p:nvSpPr>
          <p:cNvPr id="26" name="任意多边形 25"/>
          <p:cNvSpPr/>
          <p:nvPr/>
        </p:nvSpPr>
        <p:spPr>
          <a:xfrm>
            <a:off x="4819650" y="4056063"/>
            <a:ext cx="3400425" cy="893762"/>
          </a:xfrm>
          <a:custGeom>
            <a:avLst/>
            <a:gdLst>
              <a:gd name="connsiteX0" fmla="*/ 0 w 5803941"/>
              <a:gd name="connsiteY0" fmla="*/ 0 h 893013"/>
              <a:gd name="connsiteX1" fmla="*/ 5803941 w 5803941"/>
              <a:gd name="connsiteY1" fmla="*/ 0 h 893013"/>
              <a:gd name="connsiteX2" fmla="*/ 5803941 w 5803941"/>
              <a:gd name="connsiteY2" fmla="*/ 893013 h 893013"/>
              <a:gd name="connsiteX3" fmla="*/ 0 w 5803941"/>
              <a:gd name="connsiteY3" fmla="*/ 893013 h 893013"/>
              <a:gd name="connsiteX4" fmla="*/ 0 w 5803941"/>
              <a:gd name="connsiteY4" fmla="*/ 0 h 89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941" h="893013">
                <a:moveTo>
                  <a:pt x="0" y="0"/>
                </a:moveTo>
                <a:lnTo>
                  <a:pt x="5803941" y="0"/>
                </a:lnTo>
                <a:lnTo>
                  <a:pt x="5803941" y="893013"/>
                </a:lnTo>
                <a:lnTo>
                  <a:pt x="0" y="8930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38100" tIns="38100" rIns="38100" bIns="38100" spcCol="1270"/>
          <a:lstStyle/>
          <a:p>
            <a:pPr marL="0" lvl="1" indent="0" fontAlgn="auto">
              <a:lnSpc>
                <a:spcPct val="90000"/>
              </a:lnSpc>
              <a:spcAft>
                <a:spcPct val="15000"/>
              </a:spcAft>
              <a:buFontTx/>
              <a:buNone/>
              <a:defRPr/>
            </a:pPr>
            <a:r>
              <a:rPr lang="zh-CN" altLang="en-US" dirty="0">
                <a:solidFill>
                  <a:schemeClr val="tx1">
                    <a:lumMod val="75000"/>
                    <a:lumOff val="25000"/>
                  </a:schemeClr>
                </a:solidFill>
                <a:ea typeface="华文楷体" pitchFamily="2" charset="-122"/>
              </a:rPr>
              <a:t>将理论与实际相结合，为自己积累经验和教训</a:t>
            </a:r>
            <a:endParaRPr lang="zh-CN" altLang="en-US" dirty="0">
              <a:solidFill>
                <a:schemeClr val="tx1">
                  <a:lumMod val="75000"/>
                  <a:lumOff val="25000"/>
                </a:schemeClr>
              </a:solidFill>
              <a:ea typeface="华文楷体" pitchFamily="2" charset="-122"/>
            </a:endParaRPr>
          </a:p>
        </p:txBody>
      </p:sp>
      <p:sp>
        <p:nvSpPr>
          <p:cNvPr id="31" name="TextBox 29"/>
          <p:cNvSpPr txBox="1"/>
          <p:nvPr/>
        </p:nvSpPr>
        <p:spPr>
          <a:xfrm>
            <a:off x="254000" y="2638425"/>
            <a:ext cx="4268788" cy="1599565"/>
          </a:xfrm>
          <a:prstGeom prst="rect">
            <a:avLst/>
          </a:prstGeom>
          <a:noFill/>
        </p:spPr>
        <p:txBody>
          <a:bodyPr>
            <a:spAutoFit/>
          </a:bodyPr>
          <a:lstStyle/>
          <a:p>
            <a:pPr fontAlgn="auto">
              <a:lnSpc>
                <a:spcPct val="110000"/>
              </a:lnSpc>
              <a:spcBef>
                <a:spcPts val="0"/>
              </a:spcBef>
              <a:spcAft>
                <a:spcPts val="0"/>
              </a:spcAft>
              <a:defRPr/>
            </a:pPr>
            <a:r>
              <a:rPr lang="zh-CN" altLang="en-US" dirty="0">
                <a:solidFill>
                  <a:schemeClr val="tx1">
                    <a:lumMod val="75000"/>
                    <a:lumOff val="25000"/>
                  </a:schemeClr>
                </a:solidFill>
                <a:latin typeface="+mn-lt"/>
                <a:ea typeface="华文楷体" pitchFamily="2" charset="-122"/>
                <a:sym typeface="+mn-ea"/>
              </a:rPr>
              <a:t>选题的目的就是把自己所学的知识应用到实践中。</a:t>
            </a:r>
            <a:endParaRPr lang="zh-CN" altLang="en-US" dirty="0">
              <a:solidFill>
                <a:schemeClr val="tx1">
                  <a:lumMod val="75000"/>
                  <a:lumOff val="25000"/>
                </a:schemeClr>
              </a:solidFill>
              <a:latin typeface="+mn-lt"/>
              <a:ea typeface="华文楷体" pitchFamily="2" charset="-122"/>
              <a:sym typeface="+mn-ea"/>
            </a:endParaRPr>
          </a:p>
          <a:p>
            <a:pPr fontAlgn="auto">
              <a:lnSpc>
                <a:spcPct val="110000"/>
              </a:lnSpc>
              <a:spcBef>
                <a:spcPts val="0"/>
              </a:spcBef>
              <a:spcAft>
                <a:spcPts val="0"/>
              </a:spcAft>
              <a:defRPr/>
            </a:pPr>
            <a:r>
              <a:rPr lang="zh-CN" altLang="en-US" dirty="0">
                <a:solidFill>
                  <a:schemeClr val="tx1">
                    <a:lumMod val="75000"/>
                    <a:lumOff val="25000"/>
                  </a:schemeClr>
                </a:solidFill>
                <a:latin typeface="+mn-lt"/>
                <a:ea typeface="华文楷体" pitchFamily="2" charset="-122"/>
                <a:sym typeface="+mn-ea"/>
              </a:rPr>
              <a:t>选题的意义是为了培养自己设计和开发的能力，通过这次的毕设，初步了解单片机项目的开发流程和注意事项。</a:t>
            </a:r>
            <a:endParaRPr lang="zh-CN" altLang="en-US" dirty="0">
              <a:solidFill>
                <a:schemeClr val="tx1">
                  <a:lumMod val="75000"/>
                  <a:lumOff val="25000"/>
                </a:schemeClr>
              </a:solidFill>
              <a:latin typeface="+mn-lt"/>
              <a:ea typeface="华文楷体" pitchFamily="2" charset="-122"/>
              <a:sym typeface="+mn-ea"/>
            </a:endParaRPr>
          </a:p>
        </p:txBody>
      </p:sp>
      <p:cxnSp>
        <p:nvCxnSpPr>
          <p:cNvPr id="5" name="直接连接符 4"/>
          <p:cNvCxnSpPr/>
          <p:nvPr/>
        </p:nvCxnSpPr>
        <p:spPr>
          <a:xfrm>
            <a:off x="382588" y="5953125"/>
            <a:ext cx="399891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4" name="TextBox 30"/>
          <p:cNvSpPr txBox="1"/>
          <p:nvPr/>
        </p:nvSpPr>
        <p:spPr>
          <a:xfrm>
            <a:off x="687070" y="2100580"/>
            <a:ext cx="3596640" cy="457200"/>
          </a:xfrm>
          <a:prstGeom prst="rect">
            <a:avLst/>
          </a:prstGeom>
          <a:noFill/>
          <a:ln>
            <a:noFill/>
          </a:ln>
        </p:spPr>
        <p:txBody>
          <a:bodyPr wrap="square">
            <a:spAutoFit/>
          </a:bodyPr>
          <a:lstStyle/>
          <a:p>
            <a:pPr fontAlgn="auto">
              <a:spcBef>
                <a:spcPts val="0"/>
              </a:spcBef>
              <a:spcAft>
                <a:spcPts val="0"/>
              </a:spcAft>
              <a:defRPr/>
            </a:pPr>
            <a:r>
              <a:rPr lang="zh-CN" altLang="en-US" sz="2400" b="1" dirty="0">
                <a:solidFill>
                  <a:schemeClr val="tx1">
                    <a:lumMod val="75000"/>
                    <a:lumOff val="25000"/>
                  </a:schemeClr>
                </a:solidFill>
                <a:latin typeface="+mn-lt"/>
                <a:ea typeface="华文楷体" pitchFamily="2" charset="-122"/>
              </a:rPr>
              <a:t>选题意义和目的</a:t>
            </a:r>
            <a:endParaRPr lang="zh-CN" altLang="en-US" sz="2400" b="1" dirty="0">
              <a:solidFill>
                <a:schemeClr val="tx1">
                  <a:lumMod val="75000"/>
                  <a:lumOff val="25000"/>
                </a:schemeClr>
              </a:solidFill>
              <a:latin typeface="+mn-lt"/>
              <a:ea typeface="华文楷体" pitchFamily="2" charset="-122"/>
            </a:endParaRPr>
          </a:p>
        </p:txBody>
      </p:sp>
      <p:sp>
        <p:nvSpPr>
          <p:cNvPr id="36" name="矩形 35"/>
          <p:cNvSpPr/>
          <p:nvPr/>
        </p:nvSpPr>
        <p:spPr>
          <a:xfrm>
            <a:off x="382588" y="2173288"/>
            <a:ext cx="269875" cy="269875"/>
          </a:xfrm>
          <a:prstGeom prst="rect">
            <a:avLst/>
          </a:prstGeom>
          <a:gradFill>
            <a:gsLst>
              <a:gs pos="0">
                <a:srgbClr val="7B32B2"/>
              </a:gs>
              <a:gs pos="100000">
                <a:srgbClr val="401A5D"/>
              </a:gs>
            </a:gsLst>
            <a:lin ang="5400000" scaled="0"/>
          </a:gradFill>
          <a:ln>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文本框 1"/>
          <p:cNvSpPr txBox="1"/>
          <p:nvPr/>
        </p:nvSpPr>
        <p:spPr>
          <a:xfrm>
            <a:off x="395605" y="260985"/>
            <a:ext cx="4320000" cy="720000"/>
          </a:xfrm>
          <a:prstGeom prst="rect">
            <a:avLst/>
          </a:prstGeom>
          <a:noFill/>
        </p:spPr>
        <p:txBody>
          <a:bodyPr wrap="square" rtlCol="0">
            <a:spAutoFit/>
          </a:bodyPr>
          <a:p>
            <a:r>
              <a:rPr lang="zh-CN" altLang="en-US" sz="3600" i="1">
                <a:latin typeface="楷体" charset="0"/>
                <a:ea typeface="楷体" charset="0"/>
              </a:rPr>
              <a:t>辽宁工程技术大学</a:t>
            </a:r>
            <a:endParaRPr lang="zh-CN" altLang="en-US" sz="3600" i="1">
              <a:latin typeface="楷体" charset="0"/>
              <a:ea typeface="楷体"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75" y="0"/>
            <a:ext cx="9147175" cy="46038"/>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6" name="直接连接符 5"/>
          <p:cNvCxnSpPr/>
          <p:nvPr/>
        </p:nvCxnSpPr>
        <p:spPr>
          <a:xfrm>
            <a:off x="-14288" y="1201738"/>
            <a:ext cx="91471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175" y="6640513"/>
            <a:ext cx="9147175" cy="217487"/>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437" name="文本框 10"/>
          <p:cNvSpPr txBox="1">
            <a:spLocks noChangeArrowheads="1"/>
          </p:cNvSpPr>
          <p:nvPr/>
        </p:nvSpPr>
        <p:spPr bwMode="auto">
          <a:xfrm>
            <a:off x="258604"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选题背景</a:t>
            </a:r>
            <a:endParaRPr lang="zh-CN" altLang="en-US">
              <a:solidFill>
                <a:schemeClr val="tx1"/>
              </a:solidFill>
              <a:latin typeface="华文楷体"/>
              <a:ea typeface="华文楷体"/>
              <a:cs typeface="华文楷体"/>
            </a:endParaRPr>
          </a:p>
        </p:txBody>
      </p:sp>
      <p:sp>
        <p:nvSpPr>
          <p:cNvPr id="18438" name="文本框 11"/>
          <p:cNvSpPr txBox="1">
            <a:spLocks noChangeArrowheads="1"/>
          </p:cNvSpPr>
          <p:nvPr/>
        </p:nvSpPr>
        <p:spPr bwMode="auto">
          <a:xfrm>
            <a:off x="1515110"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选题意义</a:t>
            </a:r>
            <a:endParaRPr lang="zh-CN" altLang="en-US">
              <a:solidFill>
                <a:schemeClr val="tx1"/>
              </a:solidFill>
              <a:latin typeface="华文楷体"/>
              <a:ea typeface="华文楷体"/>
              <a:cs typeface="华文楷体"/>
            </a:endParaRPr>
          </a:p>
        </p:txBody>
      </p:sp>
      <p:sp>
        <p:nvSpPr>
          <p:cNvPr id="18439" name="文本框 12"/>
          <p:cNvSpPr txBox="1">
            <a:spLocks noChangeArrowheads="1"/>
          </p:cNvSpPr>
          <p:nvPr/>
        </p:nvSpPr>
        <p:spPr bwMode="auto">
          <a:xfrm>
            <a:off x="2772411" y="1303338"/>
            <a:ext cx="1097280" cy="365760"/>
          </a:xfrm>
          <a:prstGeom prst="rect">
            <a:avLst/>
          </a:prstGeom>
          <a:solidFill>
            <a:srgbClr val="5C307D"/>
          </a:solidFill>
          <a:ln w="9525">
            <a:noFill/>
            <a:miter lim="800000"/>
          </a:ln>
        </p:spPr>
        <p:txBody>
          <a:bodyPr wrap="none">
            <a:spAutoFit/>
          </a:bodyPr>
          <a:lstStyle/>
          <a:p>
            <a:pPr algn="ctr"/>
            <a:r>
              <a:rPr lang="zh-CN" altLang="en-US">
                <a:solidFill>
                  <a:schemeClr val="bg1"/>
                </a:solidFill>
                <a:latin typeface="华文楷体"/>
                <a:ea typeface="华文楷体"/>
                <a:cs typeface="华文楷体"/>
              </a:rPr>
              <a:t>研究过程</a:t>
            </a:r>
            <a:endParaRPr lang="zh-CN" altLang="en-US">
              <a:solidFill>
                <a:schemeClr val="bg1"/>
              </a:solidFill>
              <a:latin typeface="华文楷体"/>
              <a:ea typeface="华文楷体"/>
              <a:cs typeface="华文楷体"/>
            </a:endParaRPr>
          </a:p>
        </p:txBody>
      </p:sp>
      <p:sp>
        <p:nvSpPr>
          <p:cNvPr id="18440" name="文本框 13"/>
          <p:cNvSpPr txBox="1">
            <a:spLocks noChangeArrowheads="1"/>
          </p:cNvSpPr>
          <p:nvPr/>
        </p:nvSpPr>
        <p:spPr bwMode="auto">
          <a:xfrm>
            <a:off x="40297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研究结论</a:t>
            </a:r>
            <a:endParaRPr lang="zh-CN" altLang="en-US">
              <a:latin typeface="华文楷体"/>
              <a:ea typeface="华文楷体"/>
              <a:cs typeface="华文楷体"/>
            </a:endParaRPr>
          </a:p>
        </p:txBody>
      </p:sp>
      <p:grpSp>
        <p:nvGrpSpPr>
          <p:cNvPr id="18444" name="组合 17"/>
          <p:cNvGrpSpPr/>
          <p:nvPr/>
        </p:nvGrpSpPr>
        <p:grpSpPr bwMode="auto">
          <a:xfrm>
            <a:off x="4861560" y="2520950"/>
            <a:ext cx="3190240" cy="1810480"/>
            <a:chOff x="4538304" y="2445108"/>
            <a:chExt cx="5837637" cy="1810081"/>
          </a:xfrm>
        </p:grpSpPr>
        <p:sp>
          <p:nvSpPr>
            <p:cNvPr id="19" name="直接连接符 18"/>
            <p:cNvSpPr/>
            <p:nvPr/>
          </p:nvSpPr>
          <p:spPr>
            <a:xfrm>
              <a:off x="4574974" y="4243762"/>
              <a:ext cx="5762111" cy="11427"/>
            </a:xfrm>
            <a:prstGeom prst="line">
              <a:avLst/>
            </a:prstGeom>
            <a:ln>
              <a:solidFill>
                <a:schemeClr val="tx1">
                  <a:lumMod val="75000"/>
                  <a:lumOff val="2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20" name="直接连接符 19"/>
            <p:cNvSpPr/>
            <p:nvPr/>
          </p:nvSpPr>
          <p:spPr>
            <a:xfrm>
              <a:off x="4538304" y="3344705"/>
              <a:ext cx="5803529" cy="6349"/>
            </a:xfrm>
            <a:prstGeom prst="line">
              <a:avLst/>
            </a:prstGeom>
            <a:ln>
              <a:solidFill>
                <a:schemeClr val="tx1">
                  <a:lumMod val="75000"/>
                  <a:lumOff val="2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21" name="直接连接符 20"/>
            <p:cNvSpPr/>
            <p:nvPr/>
          </p:nvSpPr>
          <p:spPr>
            <a:xfrm>
              <a:off x="4572000" y="2445108"/>
              <a:ext cx="5803941" cy="0"/>
            </a:xfrm>
            <a:prstGeom prst="line">
              <a:avLst/>
            </a:prstGeom>
            <a:ln>
              <a:solidFill>
                <a:schemeClr val="tx1">
                  <a:lumMod val="75000"/>
                  <a:lumOff val="2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grpSp>
      <p:sp>
        <p:nvSpPr>
          <p:cNvPr id="23" name="任意多边形 22"/>
          <p:cNvSpPr/>
          <p:nvPr/>
        </p:nvSpPr>
        <p:spPr>
          <a:xfrm>
            <a:off x="4879975" y="2075180"/>
            <a:ext cx="936000" cy="432000"/>
          </a:xfrm>
          <a:custGeom>
            <a:avLst/>
            <a:gdLst>
              <a:gd name="connsiteX0" fmla="*/ 74421 w 1509024"/>
              <a:gd name="connsiteY0" fmla="*/ 0 h 446439"/>
              <a:gd name="connsiteX1" fmla="*/ 1434603 w 1509024"/>
              <a:gd name="connsiteY1" fmla="*/ 0 h 446439"/>
              <a:gd name="connsiteX2" fmla="*/ 1509024 w 1509024"/>
              <a:gd name="connsiteY2" fmla="*/ 74421 h 446439"/>
              <a:gd name="connsiteX3" fmla="*/ 1509024 w 1509024"/>
              <a:gd name="connsiteY3" fmla="*/ 446439 h 446439"/>
              <a:gd name="connsiteX4" fmla="*/ 1509024 w 1509024"/>
              <a:gd name="connsiteY4" fmla="*/ 446439 h 446439"/>
              <a:gd name="connsiteX5" fmla="*/ 0 w 1509024"/>
              <a:gd name="connsiteY5" fmla="*/ 446439 h 446439"/>
              <a:gd name="connsiteX6" fmla="*/ 0 w 1509024"/>
              <a:gd name="connsiteY6" fmla="*/ 446439 h 446439"/>
              <a:gd name="connsiteX7" fmla="*/ 0 w 1509024"/>
              <a:gd name="connsiteY7" fmla="*/ 74421 h 446439"/>
              <a:gd name="connsiteX8" fmla="*/ 74421 w 1509024"/>
              <a:gd name="connsiteY8" fmla="*/ 0 h 44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024" h="446439">
                <a:moveTo>
                  <a:pt x="74421" y="0"/>
                </a:moveTo>
                <a:lnTo>
                  <a:pt x="1434603" y="0"/>
                </a:lnTo>
                <a:cubicBezTo>
                  <a:pt x="1475705" y="0"/>
                  <a:pt x="1509024" y="33319"/>
                  <a:pt x="1509024" y="74421"/>
                </a:cubicBezTo>
                <a:lnTo>
                  <a:pt x="1509024" y="446439"/>
                </a:lnTo>
                <a:lnTo>
                  <a:pt x="1509024" y="446439"/>
                </a:lnTo>
                <a:lnTo>
                  <a:pt x="0" y="446439"/>
                </a:lnTo>
                <a:lnTo>
                  <a:pt x="0" y="446439"/>
                </a:lnTo>
                <a:lnTo>
                  <a:pt x="0" y="74421"/>
                </a:lnTo>
                <a:cubicBezTo>
                  <a:pt x="0" y="33319"/>
                  <a:pt x="33319" y="0"/>
                  <a:pt x="74421" y="0"/>
                </a:cubicBezTo>
                <a:close/>
              </a:path>
            </a:pathLst>
          </a:custGeom>
          <a:solidFill>
            <a:srgbClr val="5C307D"/>
          </a:solidFill>
          <a:ln>
            <a:no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0" tIns="0" rIns="0" bIns="0" spcCol="1270" anchor="ctr"/>
          <a:lstStyle/>
          <a:p>
            <a:pPr fontAlgn="auto">
              <a:lnSpc>
                <a:spcPct val="90000"/>
              </a:lnSpc>
              <a:spcAft>
                <a:spcPct val="35000"/>
              </a:spcAft>
              <a:defRPr/>
            </a:pPr>
            <a:r>
              <a:rPr lang="zh-CN" altLang="en-US" dirty="0">
                <a:solidFill>
                  <a:schemeClr val="bg1"/>
                </a:solidFill>
                <a:ea typeface="华文楷体" pitchFamily="2" charset="-122"/>
              </a:rPr>
              <a:t>购置硬件</a:t>
            </a:r>
            <a:endParaRPr lang="zh-CN" altLang="en-US" dirty="0">
              <a:solidFill>
                <a:schemeClr val="bg1"/>
              </a:solidFill>
              <a:ea typeface="华文楷体" pitchFamily="2" charset="-122"/>
            </a:endParaRPr>
          </a:p>
        </p:txBody>
      </p:sp>
      <p:sp>
        <p:nvSpPr>
          <p:cNvPr id="24" name="任意多边形 23"/>
          <p:cNvSpPr/>
          <p:nvPr/>
        </p:nvSpPr>
        <p:spPr>
          <a:xfrm>
            <a:off x="4881600" y="2613600"/>
            <a:ext cx="3400425" cy="893762"/>
          </a:xfrm>
          <a:custGeom>
            <a:avLst/>
            <a:gdLst>
              <a:gd name="connsiteX0" fmla="*/ 0 w 5803941"/>
              <a:gd name="connsiteY0" fmla="*/ 0 h 893013"/>
              <a:gd name="connsiteX1" fmla="*/ 5803941 w 5803941"/>
              <a:gd name="connsiteY1" fmla="*/ 0 h 893013"/>
              <a:gd name="connsiteX2" fmla="*/ 5803941 w 5803941"/>
              <a:gd name="connsiteY2" fmla="*/ 893013 h 893013"/>
              <a:gd name="connsiteX3" fmla="*/ 0 w 5803941"/>
              <a:gd name="connsiteY3" fmla="*/ 893013 h 893013"/>
              <a:gd name="connsiteX4" fmla="*/ 0 w 5803941"/>
              <a:gd name="connsiteY4" fmla="*/ 0 h 89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941" h="893013">
                <a:moveTo>
                  <a:pt x="0" y="0"/>
                </a:moveTo>
                <a:lnTo>
                  <a:pt x="5803941" y="0"/>
                </a:lnTo>
                <a:lnTo>
                  <a:pt x="5803941" y="893013"/>
                </a:lnTo>
                <a:lnTo>
                  <a:pt x="0" y="8930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38100" tIns="38100" rIns="38100" bIns="38100" spcCol="1270"/>
          <a:lstStyle/>
          <a:p>
            <a:pPr marL="0" lvl="1" indent="0" fontAlgn="auto">
              <a:lnSpc>
                <a:spcPct val="90000"/>
              </a:lnSpc>
              <a:spcAft>
                <a:spcPct val="15000"/>
              </a:spcAft>
              <a:buFontTx/>
              <a:buNone/>
              <a:defRPr/>
            </a:pPr>
            <a:r>
              <a:rPr lang="zh-CN" altLang="en-US" dirty="0">
                <a:solidFill>
                  <a:schemeClr val="tx1">
                    <a:lumMod val="75000"/>
                    <a:lumOff val="25000"/>
                  </a:schemeClr>
                </a:solidFill>
                <a:ea typeface="华文楷体" pitchFamily="2" charset="-122"/>
              </a:rPr>
              <a:t>根据预期功能购置相应的硬件。</a:t>
            </a:r>
            <a:endParaRPr lang="zh-CN" altLang="en-US" dirty="0">
              <a:solidFill>
                <a:schemeClr val="tx1">
                  <a:lumMod val="75000"/>
                  <a:lumOff val="25000"/>
                </a:schemeClr>
              </a:solidFill>
              <a:ea typeface="华文楷体" pitchFamily="2" charset="-122"/>
            </a:endParaRPr>
          </a:p>
        </p:txBody>
      </p:sp>
      <p:sp>
        <p:nvSpPr>
          <p:cNvPr id="25" name="任意多边形 24"/>
          <p:cNvSpPr/>
          <p:nvPr/>
        </p:nvSpPr>
        <p:spPr>
          <a:xfrm>
            <a:off x="4881600" y="2973600"/>
            <a:ext cx="936000" cy="432000"/>
          </a:xfrm>
          <a:custGeom>
            <a:avLst/>
            <a:gdLst>
              <a:gd name="connsiteX0" fmla="*/ 74421 w 1509024"/>
              <a:gd name="connsiteY0" fmla="*/ 0 h 446439"/>
              <a:gd name="connsiteX1" fmla="*/ 1434603 w 1509024"/>
              <a:gd name="connsiteY1" fmla="*/ 0 h 446439"/>
              <a:gd name="connsiteX2" fmla="*/ 1509024 w 1509024"/>
              <a:gd name="connsiteY2" fmla="*/ 74421 h 446439"/>
              <a:gd name="connsiteX3" fmla="*/ 1509024 w 1509024"/>
              <a:gd name="connsiteY3" fmla="*/ 446439 h 446439"/>
              <a:gd name="connsiteX4" fmla="*/ 1509024 w 1509024"/>
              <a:gd name="connsiteY4" fmla="*/ 446439 h 446439"/>
              <a:gd name="connsiteX5" fmla="*/ 0 w 1509024"/>
              <a:gd name="connsiteY5" fmla="*/ 446439 h 446439"/>
              <a:gd name="connsiteX6" fmla="*/ 0 w 1509024"/>
              <a:gd name="connsiteY6" fmla="*/ 446439 h 446439"/>
              <a:gd name="connsiteX7" fmla="*/ 0 w 1509024"/>
              <a:gd name="connsiteY7" fmla="*/ 74421 h 446439"/>
              <a:gd name="connsiteX8" fmla="*/ 74421 w 1509024"/>
              <a:gd name="connsiteY8" fmla="*/ 0 h 44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024" h="446439">
                <a:moveTo>
                  <a:pt x="74421" y="0"/>
                </a:moveTo>
                <a:lnTo>
                  <a:pt x="1434603" y="0"/>
                </a:lnTo>
                <a:cubicBezTo>
                  <a:pt x="1475705" y="0"/>
                  <a:pt x="1509024" y="33319"/>
                  <a:pt x="1509024" y="74421"/>
                </a:cubicBezTo>
                <a:lnTo>
                  <a:pt x="1509024" y="446439"/>
                </a:lnTo>
                <a:lnTo>
                  <a:pt x="1509024" y="446439"/>
                </a:lnTo>
                <a:lnTo>
                  <a:pt x="0" y="446439"/>
                </a:lnTo>
                <a:lnTo>
                  <a:pt x="0" y="446439"/>
                </a:lnTo>
                <a:lnTo>
                  <a:pt x="0" y="74421"/>
                </a:lnTo>
                <a:cubicBezTo>
                  <a:pt x="0" y="33319"/>
                  <a:pt x="33319" y="0"/>
                  <a:pt x="74421" y="0"/>
                </a:cubicBezTo>
                <a:close/>
              </a:path>
            </a:pathLst>
          </a:custGeom>
          <a:solidFill>
            <a:srgbClr val="5C307D"/>
          </a:solidFill>
          <a:ln>
            <a:no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0" tIns="0" rIns="0" bIns="0" spcCol="1270" anchor="ctr" anchorCtr="0"/>
          <a:lstStyle/>
          <a:p>
            <a:pPr fontAlgn="auto">
              <a:lnSpc>
                <a:spcPct val="90000"/>
              </a:lnSpc>
              <a:spcAft>
                <a:spcPct val="35000"/>
              </a:spcAft>
              <a:defRPr/>
            </a:pPr>
            <a:r>
              <a:rPr lang="zh-CN" altLang="en-US" dirty="0">
                <a:solidFill>
                  <a:schemeClr val="bg1"/>
                </a:solidFill>
                <a:ea typeface="华文楷体" pitchFamily="2" charset="-122"/>
              </a:rPr>
              <a:t>焊接组装</a:t>
            </a:r>
            <a:endParaRPr lang="zh-CN" altLang="en-US" dirty="0">
              <a:solidFill>
                <a:schemeClr val="bg1"/>
              </a:solidFill>
              <a:ea typeface="华文楷体" pitchFamily="2" charset="-122"/>
            </a:endParaRPr>
          </a:p>
        </p:txBody>
      </p:sp>
      <p:sp>
        <p:nvSpPr>
          <p:cNvPr id="26" name="任意多边形 25"/>
          <p:cNvSpPr/>
          <p:nvPr/>
        </p:nvSpPr>
        <p:spPr>
          <a:xfrm>
            <a:off x="4881600" y="3513600"/>
            <a:ext cx="3400425" cy="845820"/>
          </a:xfrm>
          <a:custGeom>
            <a:avLst/>
            <a:gdLst>
              <a:gd name="connsiteX0" fmla="*/ 0 w 5803941"/>
              <a:gd name="connsiteY0" fmla="*/ 0 h 893013"/>
              <a:gd name="connsiteX1" fmla="*/ 5803941 w 5803941"/>
              <a:gd name="connsiteY1" fmla="*/ 0 h 893013"/>
              <a:gd name="connsiteX2" fmla="*/ 5803941 w 5803941"/>
              <a:gd name="connsiteY2" fmla="*/ 893013 h 893013"/>
              <a:gd name="connsiteX3" fmla="*/ 0 w 5803941"/>
              <a:gd name="connsiteY3" fmla="*/ 893013 h 893013"/>
              <a:gd name="connsiteX4" fmla="*/ 0 w 5803941"/>
              <a:gd name="connsiteY4" fmla="*/ 0 h 89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941" h="893013">
                <a:moveTo>
                  <a:pt x="0" y="0"/>
                </a:moveTo>
                <a:lnTo>
                  <a:pt x="5803941" y="0"/>
                </a:lnTo>
                <a:lnTo>
                  <a:pt x="5803941" y="893013"/>
                </a:lnTo>
                <a:lnTo>
                  <a:pt x="0" y="8930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38100" tIns="38100" rIns="38100" bIns="38100" spcCol="1270"/>
          <a:lstStyle/>
          <a:p>
            <a:pPr marL="0" lvl="1" indent="0" fontAlgn="auto">
              <a:lnSpc>
                <a:spcPct val="90000"/>
              </a:lnSpc>
              <a:spcAft>
                <a:spcPct val="15000"/>
              </a:spcAft>
              <a:buFontTx/>
              <a:buNone/>
              <a:defRPr/>
            </a:pPr>
            <a:r>
              <a:rPr lang="zh-CN" altLang="en-US" dirty="0">
                <a:solidFill>
                  <a:schemeClr val="tx1">
                    <a:lumMod val="75000"/>
                    <a:lumOff val="25000"/>
                  </a:schemeClr>
                </a:solidFill>
                <a:ea typeface="华文楷体" pitchFamily="2" charset="-122"/>
              </a:rPr>
              <a:t>将硬件焊接到底盘上并组装小车。</a:t>
            </a:r>
            <a:endParaRPr lang="zh-CN" altLang="en-US" dirty="0">
              <a:solidFill>
                <a:schemeClr val="tx1">
                  <a:lumMod val="75000"/>
                  <a:lumOff val="25000"/>
                </a:schemeClr>
              </a:solidFill>
              <a:ea typeface="华文楷体" pitchFamily="2" charset="-122"/>
            </a:endParaRPr>
          </a:p>
          <a:p>
            <a:pPr marL="0" lvl="1" indent="0" fontAlgn="auto">
              <a:lnSpc>
                <a:spcPct val="90000"/>
              </a:lnSpc>
              <a:spcAft>
                <a:spcPct val="15000"/>
              </a:spcAft>
              <a:buFontTx/>
              <a:buNone/>
              <a:defRPr/>
            </a:pPr>
            <a:endParaRPr lang="zh-CN" altLang="en-US" dirty="0">
              <a:solidFill>
                <a:schemeClr val="tx1">
                  <a:lumMod val="75000"/>
                  <a:lumOff val="25000"/>
                </a:schemeClr>
              </a:solidFill>
              <a:ea typeface="华文楷体" pitchFamily="2" charset="-122"/>
            </a:endParaRPr>
          </a:p>
        </p:txBody>
      </p:sp>
      <p:sp>
        <p:nvSpPr>
          <p:cNvPr id="27" name="任意多边形 26"/>
          <p:cNvSpPr/>
          <p:nvPr/>
        </p:nvSpPr>
        <p:spPr>
          <a:xfrm>
            <a:off x="4881600" y="3873600"/>
            <a:ext cx="936000" cy="432000"/>
          </a:xfrm>
          <a:custGeom>
            <a:avLst/>
            <a:gdLst>
              <a:gd name="connsiteX0" fmla="*/ 74421 w 1509024"/>
              <a:gd name="connsiteY0" fmla="*/ 0 h 446439"/>
              <a:gd name="connsiteX1" fmla="*/ 1434603 w 1509024"/>
              <a:gd name="connsiteY1" fmla="*/ 0 h 446439"/>
              <a:gd name="connsiteX2" fmla="*/ 1509024 w 1509024"/>
              <a:gd name="connsiteY2" fmla="*/ 74421 h 446439"/>
              <a:gd name="connsiteX3" fmla="*/ 1509024 w 1509024"/>
              <a:gd name="connsiteY3" fmla="*/ 446439 h 446439"/>
              <a:gd name="connsiteX4" fmla="*/ 1509024 w 1509024"/>
              <a:gd name="connsiteY4" fmla="*/ 446439 h 446439"/>
              <a:gd name="connsiteX5" fmla="*/ 0 w 1509024"/>
              <a:gd name="connsiteY5" fmla="*/ 446439 h 446439"/>
              <a:gd name="connsiteX6" fmla="*/ 0 w 1509024"/>
              <a:gd name="connsiteY6" fmla="*/ 446439 h 446439"/>
              <a:gd name="connsiteX7" fmla="*/ 0 w 1509024"/>
              <a:gd name="connsiteY7" fmla="*/ 74421 h 446439"/>
              <a:gd name="connsiteX8" fmla="*/ 74421 w 1509024"/>
              <a:gd name="connsiteY8" fmla="*/ 0 h 44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024" h="446439">
                <a:moveTo>
                  <a:pt x="74421" y="0"/>
                </a:moveTo>
                <a:lnTo>
                  <a:pt x="1434603" y="0"/>
                </a:lnTo>
                <a:cubicBezTo>
                  <a:pt x="1475705" y="0"/>
                  <a:pt x="1509024" y="33319"/>
                  <a:pt x="1509024" y="74421"/>
                </a:cubicBezTo>
                <a:lnTo>
                  <a:pt x="1509024" y="446439"/>
                </a:lnTo>
                <a:lnTo>
                  <a:pt x="1509024" y="446439"/>
                </a:lnTo>
                <a:lnTo>
                  <a:pt x="0" y="446439"/>
                </a:lnTo>
                <a:lnTo>
                  <a:pt x="0" y="446439"/>
                </a:lnTo>
                <a:lnTo>
                  <a:pt x="0" y="74421"/>
                </a:lnTo>
                <a:cubicBezTo>
                  <a:pt x="0" y="33319"/>
                  <a:pt x="33319" y="0"/>
                  <a:pt x="74421" y="0"/>
                </a:cubicBezTo>
                <a:close/>
              </a:path>
            </a:pathLst>
          </a:custGeom>
          <a:solidFill>
            <a:srgbClr val="5C307D"/>
          </a:solidFill>
          <a:ln>
            <a:no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0" tIns="0" rIns="0" bIns="0" spcCol="1270" anchor="ctr"/>
          <a:lstStyle/>
          <a:p>
            <a:pPr fontAlgn="auto">
              <a:lnSpc>
                <a:spcPct val="90000"/>
              </a:lnSpc>
              <a:spcAft>
                <a:spcPct val="35000"/>
              </a:spcAft>
              <a:defRPr/>
            </a:pPr>
            <a:r>
              <a:rPr lang="zh-CN" altLang="en-US" dirty="0">
                <a:solidFill>
                  <a:schemeClr val="bg1"/>
                </a:solidFill>
                <a:ea typeface="华文楷体" pitchFamily="2" charset="-122"/>
              </a:rPr>
              <a:t>烧写程序</a:t>
            </a:r>
            <a:endParaRPr lang="zh-CN" altLang="en-US" dirty="0">
              <a:solidFill>
                <a:schemeClr val="bg1"/>
              </a:solidFill>
              <a:ea typeface="华文楷体" pitchFamily="2" charset="-122"/>
            </a:endParaRPr>
          </a:p>
        </p:txBody>
      </p:sp>
      <p:sp>
        <p:nvSpPr>
          <p:cNvPr id="28" name="任意多边形 27"/>
          <p:cNvSpPr/>
          <p:nvPr/>
        </p:nvSpPr>
        <p:spPr>
          <a:xfrm>
            <a:off x="4881600" y="4413600"/>
            <a:ext cx="3340100" cy="1579880"/>
          </a:xfrm>
          <a:custGeom>
            <a:avLst/>
            <a:gdLst>
              <a:gd name="connsiteX0" fmla="*/ 0 w 5803941"/>
              <a:gd name="connsiteY0" fmla="*/ 0 h 893013"/>
              <a:gd name="connsiteX1" fmla="*/ 5803941 w 5803941"/>
              <a:gd name="connsiteY1" fmla="*/ 0 h 893013"/>
              <a:gd name="connsiteX2" fmla="*/ 5803941 w 5803941"/>
              <a:gd name="connsiteY2" fmla="*/ 893013 h 893013"/>
              <a:gd name="connsiteX3" fmla="*/ 0 w 5803941"/>
              <a:gd name="connsiteY3" fmla="*/ 893013 h 893013"/>
              <a:gd name="connsiteX4" fmla="*/ 0 w 5803941"/>
              <a:gd name="connsiteY4" fmla="*/ 0 h 89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941" h="893013">
                <a:moveTo>
                  <a:pt x="0" y="0"/>
                </a:moveTo>
                <a:lnTo>
                  <a:pt x="5803941" y="0"/>
                </a:lnTo>
                <a:lnTo>
                  <a:pt x="5803941" y="893013"/>
                </a:lnTo>
                <a:lnTo>
                  <a:pt x="0" y="8930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38100" tIns="38100" rIns="38100" bIns="38100" spcCol="1270"/>
          <a:lstStyle/>
          <a:p>
            <a:pPr marL="0" lvl="1" indent="0" fontAlgn="auto">
              <a:lnSpc>
                <a:spcPct val="90000"/>
              </a:lnSpc>
              <a:spcAft>
                <a:spcPct val="15000"/>
              </a:spcAft>
              <a:buFontTx/>
              <a:buNone/>
              <a:defRPr/>
            </a:pPr>
            <a:r>
              <a:rPr lang="zh-CN" altLang="en-US" dirty="0">
                <a:solidFill>
                  <a:schemeClr val="tx1">
                    <a:lumMod val="75000"/>
                    <a:lumOff val="25000"/>
                  </a:schemeClr>
                </a:solidFill>
                <a:ea typeface="华文楷体" pitchFamily="2" charset="-122"/>
              </a:rPr>
              <a:t>将写好的程序烧入单片机。</a:t>
            </a:r>
            <a:endParaRPr lang="zh-CN" altLang="en-US" dirty="0">
              <a:solidFill>
                <a:schemeClr val="tx1">
                  <a:lumMod val="75000"/>
                  <a:lumOff val="25000"/>
                </a:schemeClr>
              </a:solidFill>
              <a:ea typeface="华文楷体" pitchFamily="2" charset="-122"/>
            </a:endParaRPr>
          </a:p>
        </p:txBody>
      </p:sp>
      <p:sp>
        <p:nvSpPr>
          <p:cNvPr id="31" name="TextBox 29"/>
          <p:cNvSpPr txBox="1"/>
          <p:nvPr/>
        </p:nvSpPr>
        <p:spPr>
          <a:xfrm>
            <a:off x="254000" y="2638425"/>
            <a:ext cx="4268788" cy="694690"/>
          </a:xfrm>
          <a:prstGeom prst="rect">
            <a:avLst/>
          </a:prstGeom>
          <a:noFill/>
        </p:spPr>
        <p:txBody>
          <a:bodyPr>
            <a:spAutoFit/>
          </a:bodyPr>
          <a:lstStyle/>
          <a:p>
            <a:pPr fontAlgn="auto">
              <a:lnSpc>
                <a:spcPct val="110000"/>
              </a:lnSpc>
              <a:spcBef>
                <a:spcPts val="0"/>
              </a:spcBef>
              <a:spcAft>
                <a:spcPts val="0"/>
              </a:spcAft>
              <a:defRPr/>
            </a:pPr>
            <a:r>
              <a:rPr lang="zh-CN" altLang="en-US" dirty="0">
                <a:solidFill>
                  <a:schemeClr val="tx1">
                    <a:lumMod val="75000"/>
                    <a:lumOff val="25000"/>
                  </a:schemeClr>
                </a:solidFill>
                <a:latin typeface="+mn-lt"/>
                <a:ea typeface="华文楷体" pitchFamily="2" charset="-122"/>
                <a:sym typeface="+mn-ea"/>
              </a:rPr>
              <a:t>主要研究过程为购置硬件，焊接组装，烧写程序，实验调试。</a:t>
            </a:r>
            <a:endParaRPr lang="zh-CN" altLang="en-US" dirty="0">
              <a:solidFill>
                <a:schemeClr val="tx1">
                  <a:lumMod val="75000"/>
                  <a:lumOff val="25000"/>
                </a:schemeClr>
              </a:solidFill>
              <a:latin typeface="+mn-lt"/>
              <a:ea typeface="华文楷体" pitchFamily="2" charset="-122"/>
            </a:endParaRPr>
          </a:p>
        </p:txBody>
      </p:sp>
      <p:cxnSp>
        <p:nvCxnSpPr>
          <p:cNvPr id="5" name="直接连接符 4"/>
          <p:cNvCxnSpPr/>
          <p:nvPr/>
        </p:nvCxnSpPr>
        <p:spPr>
          <a:xfrm>
            <a:off x="382588" y="5953125"/>
            <a:ext cx="399891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4" name="TextBox 30"/>
          <p:cNvSpPr txBox="1"/>
          <p:nvPr/>
        </p:nvSpPr>
        <p:spPr>
          <a:xfrm>
            <a:off x="687070" y="2100580"/>
            <a:ext cx="3596640" cy="457200"/>
          </a:xfrm>
          <a:prstGeom prst="rect">
            <a:avLst/>
          </a:prstGeom>
          <a:noFill/>
          <a:ln>
            <a:noFill/>
          </a:ln>
        </p:spPr>
        <p:txBody>
          <a:bodyPr wrap="square">
            <a:spAutoFit/>
          </a:bodyPr>
          <a:lstStyle/>
          <a:p>
            <a:pPr fontAlgn="auto">
              <a:spcBef>
                <a:spcPts val="0"/>
              </a:spcBef>
              <a:spcAft>
                <a:spcPts val="0"/>
              </a:spcAft>
              <a:defRPr/>
            </a:pPr>
            <a:r>
              <a:rPr lang="zh-CN" altLang="en-US" sz="2400" b="1" dirty="0">
                <a:solidFill>
                  <a:schemeClr val="tx1">
                    <a:lumMod val="75000"/>
                    <a:lumOff val="25000"/>
                  </a:schemeClr>
                </a:solidFill>
                <a:latin typeface="+mn-lt"/>
                <a:ea typeface="华文楷体" pitchFamily="2" charset="-122"/>
              </a:rPr>
              <a:t>研究过程</a:t>
            </a:r>
            <a:endParaRPr lang="zh-CN" altLang="en-US" sz="2400" b="1" dirty="0">
              <a:solidFill>
                <a:schemeClr val="tx1">
                  <a:lumMod val="75000"/>
                  <a:lumOff val="25000"/>
                </a:schemeClr>
              </a:solidFill>
              <a:latin typeface="+mn-lt"/>
              <a:ea typeface="华文楷体" pitchFamily="2" charset="-122"/>
            </a:endParaRPr>
          </a:p>
        </p:txBody>
      </p:sp>
      <p:sp>
        <p:nvSpPr>
          <p:cNvPr id="36" name="矩形 35"/>
          <p:cNvSpPr/>
          <p:nvPr/>
        </p:nvSpPr>
        <p:spPr>
          <a:xfrm>
            <a:off x="382588" y="2173288"/>
            <a:ext cx="269875" cy="269875"/>
          </a:xfrm>
          <a:prstGeom prst="rect">
            <a:avLst/>
          </a:prstGeom>
          <a:gradFill>
            <a:gsLst>
              <a:gs pos="0">
                <a:srgbClr val="7B32B2"/>
              </a:gs>
              <a:gs pos="100000">
                <a:srgbClr val="401A5D"/>
              </a:gs>
            </a:gsLst>
            <a:lin ang="5400000" scaled="0"/>
          </a:gradFill>
          <a:ln>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文本框 1"/>
          <p:cNvSpPr txBox="1"/>
          <p:nvPr/>
        </p:nvSpPr>
        <p:spPr>
          <a:xfrm>
            <a:off x="395605" y="260985"/>
            <a:ext cx="4320000" cy="720000"/>
          </a:xfrm>
          <a:prstGeom prst="rect">
            <a:avLst/>
          </a:prstGeom>
          <a:noFill/>
        </p:spPr>
        <p:txBody>
          <a:bodyPr wrap="square" rtlCol="0">
            <a:spAutoFit/>
          </a:bodyPr>
          <a:p>
            <a:r>
              <a:rPr lang="zh-CN" altLang="en-US" sz="3600" i="1">
                <a:latin typeface="楷体" charset="0"/>
                <a:ea typeface="楷体" charset="0"/>
              </a:rPr>
              <a:t>辽宁工程技术大学</a:t>
            </a:r>
            <a:endParaRPr lang="zh-CN" altLang="en-US" sz="3600" i="1">
              <a:latin typeface="楷体" charset="0"/>
              <a:ea typeface="楷体" charset="0"/>
            </a:endParaRPr>
          </a:p>
        </p:txBody>
      </p:sp>
      <p:sp>
        <p:nvSpPr>
          <p:cNvPr id="9" name="任意多边形 8"/>
          <p:cNvSpPr/>
          <p:nvPr/>
        </p:nvSpPr>
        <p:spPr>
          <a:xfrm>
            <a:off x="4881600" y="4773600"/>
            <a:ext cx="936000" cy="432000"/>
          </a:xfrm>
          <a:custGeom>
            <a:avLst/>
            <a:gdLst>
              <a:gd name="connsiteX0" fmla="*/ 74421 w 1509024"/>
              <a:gd name="connsiteY0" fmla="*/ 0 h 446439"/>
              <a:gd name="connsiteX1" fmla="*/ 1434603 w 1509024"/>
              <a:gd name="connsiteY1" fmla="*/ 0 h 446439"/>
              <a:gd name="connsiteX2" fmla="*/ 1509024 w 1509024"/>
              <a:gd name="connsiteY2" fmla="*/ 74421 h 446439"/>
              <a:gd name="connsiteX3" fmla="*/ 1509024 w 1509024"/>
              <a:gd name="connsiteY3" fmla="*/ 446439 h 446439"/>
              <a:gd name="connsiteX4" fmla="*/ 1509024 w 1509024"/>
              <a:gd name="connsiteY4" fmla="*/ 446439 h 446439"/>
              <a:gd name="connsiteX5" fmla="*/ 0 w 1509024"/>
              <a:gd name="connsiteY5" fmla="*/ 446439 h 446439"/>
              <a:gd name="connsiteX6" fmla="*/ 0 w 1509024"/>
              <a:gd name="connsiteY6" fmla="*/ 446439 h 446439"/>
              <a:gd name="connsiteX7" fmla="*/ 0 w 1509024"/>
              <a:gd name="connsiteY7" fmla="*/ 74421 h 446439"/>
              <a:gd name="connsiteX8" fmla="*/ 74421 w 1509024"/>
              <a:gd name="connsiteY8" fmla="*/ 0 h 44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024" h="446439">
                <a:moveTo>
                  <a:pt x="74421" y="0"/>
                </a:moveTo>
                <a:lnTo>
                  <a:pt x="1434603" y="0"/>
                </a:lnTo>
                <a:cubicBezTo>
                  <a:pt x="1475705" y="0"/>
                  <a:pt x="1509024" y="33319"/>
                  <a:pt x="1509024" y="74421"/>
                </a:cubicBezTo>
                <a:lnTo>
                  <a:pt x="1509024" y="446439"/>
                </a:lnTo>
                <a:lnTo>
                  <a:pt x="1509024" y="446439"/>
                </a:lnTo>
                <a:lnTo>
                  <a:pt x="0" y="446439"/>
                </a:lnTo>
                <a:lnTo>
                  <a:pt x="0" y="446439"/>
                </a:lnTo>
                <a:lnTo>
                  <a:pt x="0" y="74421"/>
                </a:lnTo>
                <a:cubicBezTo>
                  <a:pt x="0" y="33319"/>
                  <a:pt x="33319" y="0"/>
                  <a:pt x="74421" y="0"/>
                </a:cubicBezTo>
                <a:close/>
              </a:path>
            </a:pathLst>
          </a:custGeom>
          <a:solidFill>
            <a:srgbClr val="5C307D"/>
          </a:solidFill>
          <a:ln>
            <a:no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0" tIns="0" rIns="0" bIns="0" spcCol="1270" anchor="ctr"/>
          <a:p>
            <a:pPr fontAlgn="auto">
              <a:lnSpc>
                <a:spcPct val="90000"/>
              </a:lnSpc>
              <a:spcAft>
                <a:spcPct val="35000"/>
              </a:spcAft>
              <a:defRPr/>
            </a:pPr>
            <a:r>
              <a:rPr lang="zh-CN" altLang="en-US" dirty="0">
                <a:solidFill>
                  <a:schemeClr val="bg1"/>
                </a:solidFill>
                <a:ea typeface="华文楷体" pitchFamily="2" charset="-122"/>
              </a:rPr>
              <a:t>烧写程序</a:t>
            </a:r>
            <a:endParaRPr lang="zh-CN" altLang="en-US" dirty="0">
              <a:solidFill>
                <a:schemeClr val="bg1"/>
              </a:solidFill>
              <a:ea typeface="华文楷体" pitchFamily="2" charset="-122"/>
            </a:endParaRPr>
          </a:p>
        </p:txBody>
      </p:sp>
      <p:sp>
        <p:nvSpPr>
          <p:cNvPr id="11" name="直接连接符 10"/>
          <p:cNvSpPr/>
          <p:nvPr/>
        </p:nvSpPr>
        <p:spPr>
          <a:xfrm>
            <a:off x="4881600" y="5250180"/>
            <a:ext cx="3171600" cy="20320"/>
          </a:xfrm>
          <a:prstGeom prst="line">
            <a:avLst/>
          </a:prstGeom>
          <a:ln>
            <a:solidFill>
              <a:schemeClr val="tx1">
                <a:lumMod val="75000"/>
                <a:lumOff val="2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13" name="文本框 12"/>
          <p:cNvSpPr txBox="1"/>
          <p:nvPr/>
        </p:nvSpPr>
        <p:spPr>
          <a:xfrm>
            <a:off x="4881600" y="5313600"/>
            <a:ext cx="2867660" cy="353060"/>
          </a:xfrm>
          <a:prstGeom prst="rect">
            <a:avLst/>
          </a:prstGeom>
          <a:noFill/>
        </p:spPr>
        <p:txBody>
          <a:bodyPr wrap="square" lIns="39370" tIns="39370" rIns="39370" bIns="39370" rtlCol="0">
            <a:spAutoFit/>
          </a:bodyPr>
          <a:p>
            <a:r>
              <a:rPr lang="zh-CN" altLang="en-US">
                <a:latin typeface="华文楷体" charset="0"/>
                <a:ea typeface="华文楷体" charset="0"/>
              </a:rPr>
              <a:t>实际环境测试，调试程序。</a:t>
            </a:r>
            <a:endParaRPr lang="zh-CN" altLang="en-US">
              <a:latin typeface="华文楷体" charset="0"/>
              <a:ea typeface="华文楷体"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75" y="0"/>
            <a:ext cx="9147175" cy="46038"/>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6" name="直接连接符 5"/>
          <p:cNvCxnSpPr/>
          <p:nvPr/>
        </p:nvCxnSpPr>
        <p:spPr>
          <a:xfrm>
            <a:off x="-14288" y="1201738"/>
            <a:ext cx="91471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175" y="6640513"/>
            <a:ext cx="9147175" cy="217487"/>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437" name="文本框 10"/>
          <p:cNvSpPr txBox="1">
            <a:spLocks noChangeArrowheads="1"/>
          </p:cNvSpPr>
          <p:nvPr/>
        </p:nvSpPr>
        <p:spPr bwMode="auto">
          <a:xfrm>
            <a:off x="258604"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选题背景</a:t>
            </a:r>
            <a:endParaRPr lang="zh-CN" altLang="en-US">
              <a:solidFill>
                <a:schemeClr val="tx1"/>
              </a:solidFill>
              <a:latin typeface="华文楷体"/>
              <a:ea typeface="华文楷体"/>
              <a:cs typeface="华文楷体"/>
            </a:endParaRPr>
          </a:p>
        </p:txBody>
      </p:sp>
      <p:sp>
        <p:nvSpPr>
          <p:cNvPr id="18438" name="文本框 11"/>
          <p:cNvSpPr txBox="1">
            <a:spLocks noChangeArrowheads="1"/>
          </p:cNvSpPr>
          <p:nvPr/>
        </p:nvSpPr>
        <p:spPr bwMode="auto">
          <a:xfrm>
            <a:off x="1515110"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选题意义</a:t>
            </a:r>
            <a:endParaRPr lang="zh-CN" altLang="en-US">
              <a:solidFill>
                <a:schemeClr val="tx1"/>
              </a:solidFill>
              <a:latin typeface="华文楷体"/>
              <a:ea typeface="华文楷体"/>
              <a:cs typeface="华文楷体"/>
            </a:endParaRPr>
          </a:p>
        </p:txBody>
      </p:sp>
      <p:sp>
        <p:nvSpPr>
          <p:cNvPr id="18439" name="文本框 12"/>
          <p:cNvSpPr txBox="1">
            <a:spLocks noChangeArrowheads="1"/>
          </p:cNvSpPr>
          <p:nvPr/>
        </p:nvSpPr>
        <p:spPr bwMode="auto">
          <a:xfrm>
            <a:off x="2772411" y="1303338"/>
            <a:ext cx="1097280" cy="365760"/>
          </a:xfrm>
          <a:prstGeom prst="rect">
            <a:avLst/>
          </a:prstGeom>
          <a:solidFill>
            <a:srgbClr val="5C307D"/>
          </a:solidFill>
          <a:ln w="9525">
            <a:noFill/>
            <a:miter lim="800000"/>
          </a:ln>
        </p:spPr>
        <p:txBody>
          <a:bodyPr wrap="none">
            <a:spAutoFit/>
          </a:bodyPr>
          <a:lstStyle/>
          <a:p>
            <a:pPr algn="ctr"/>
            <a:r>
              <a:rPr lang="zh-CN" altLang="en-US">
                <a:solidFill>
                  <a:schemeClr val="bg1"/>
                </a:solidFill>
                <a:latin typeface="华文楷体"/>
                <a:ea typeface="华文楷体"/>
                <a:cs typeface="华文楷体"/>
              </a:rPr>
              <a:t>研究过程</a:t>
            </a:r>
            <a:endParaRPr lang="zh-CN" altLang="en-US">
              <a:solidFill>
                <a:schemeClr val="bg1"/>
              </a:solidFill>
              <a:latin typeface="华文楷体"/>
              <a:ea typeface="华文楷体"/>
              <a:cs typeface="华文楷体"/>
            </a:endParaRPr>
          </a:p>
        </p:txBody>
      </p:sp>
      <p:sp>
        <p:nvSpPr>
          <p:cNvPr id="18440" name="文本框 13"/>
          <p:cNvSpPr txBox="1">
            <a:spLocks noChangeArrowheads="1"/>
          </p:cNvSpPr>
          <p:nvPr/>
        </p:nvSpPr>
        <p:spPr bwMode="auto">
          <a:xfrm>
            <a:off x="40297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研究结论</a:t>
            </a:r>
            <a:endParaRPr lang="zh-CN" altLang="en-US">
              <a:latin typeface="华文楷体"/>
              <a:ea typeface="华文楷体"/>
              <a:cs typeface="华文楷体"/>
            </a:endParaRPr>
          </a:p>
        </p:txBody>
      </p:sp>
      <p:sp>
        <p:nvSpPr>
          <p:cNvPr id="2" name="文本框 1"/>
          <p:cNvSpPr txBox="1"/>
          <p:nvPr/>
        </p:nvSpPr>
        <p:spPr>
          <a:xfrm>
            <a:off x="395605" y="260985"/>
            <a:ext cx="4320000" cy="720000"/>
          </a:xfrm>
          <a:prstGeom prst="rect">
            <a:avLst/>
          </a:prstGeom>
          <a:noFill/>
        </p:spPr>
        <p:txBody>
          <a:bodyPr wrap="square" rtlCol="0">
            <a:spAutoFit/>
          </a:bodyPr>
          <a:p>
            <a:r>
              <a:rPr lang="zh-CN" altLang="en-US" sz="3600" i="1">
                <a:latin typeface="楷体" charset="0"/>
                <a:ea typeface="楷体" charset="0"/>
              </a:rPr>
              <a:t>辽宁工程技术大学</a:t>
            </a:r>
            <a:endParaRPr lang="zh-CN" altLang="en-US" sz="3600" i="1">
              <a:latin typeface="楷体" charset="0"/>
              <a:ea typeface="楷体" charset="0"/>
            </a:endParaRPr>
          </a:p>
        </p:txBody>
      </p:sp>
      <p:sp>
        <p:nvSpPr>
          <p:cNvPr id="4" name="文本框 3"/>
          <p:cNvSpPr txBox="1"/>
          <p:nvPr/>
        </p:nvSpPr>
        <p:spPr>
          <a:xfrm>
            <a:off x="810000" y="1900800"/>
            <a:ext cx="7936230" cy="548640"/>
          </a:xfrm>
          <a:prstGeom prst="rect">
            <a:avLst/>
          </a:prstGeom>
          <a:noFill/>
        </p:spPr>
        <p:txBody>
          <a:bodyPr wrap="square" lIns="0" tIns="0" rIns="0" bIns="0" rtlCol="0" anchor="t" anchorCtr="0">
            <a:spAutoFit/>
          </a:bodyPr>
          <a:p>
            <a:r>
              <a:rPr lang="zh-CN" altLang="en-US" dirty="0">
                <a:solidFill>
                  <a:schemeClr val="tx1">
                    <a:lumMod val="75000"/>
                    <a:lumOff val="25000"/>
                  </a:schemeClr>
                </a:solidFill>
                <a:latin typeface="+mn-lt"/>
                <a:ea typeface="华文楷体" pitchFamily="2" charset="-122"/>
                <a:sym typeface="+mn-ea"/>
              </a:rPr>
              <a:t>下表是本次毕设开发的具体时间表，以及每个时间段内的任务</a:t>
            </a:r>
            <a:endParaRPr lang="zh-CN" altLang="en-US" dirty="0">
              <a:solidFill>
                <a:schemeClr val="tx1">
                  <a:lumMod val="75000"/>
                  <a:lumOff val="25000"/>
                </a:schemeClr>
              </a:solidFill>
              <a:latin typeface="+mn-lt"/>
              <a:ea typeface="华文楷体" pitchFamily="2" charset="-122"/>
            </a:endParaRPr>
          </a:p>
          <a:p>
            <a:endParaRPr lang="zh-CN" altLang="en-US"/>
          </a:p>
        </p:txBody>
      </p:sp>
      <p:graphicFrame>
        <p:nvGraphicFramePr>
          <p:cNvPr id="18" name="表格 17"/>
          <p:cNvGraphicFramePr>
            <a:graphicFrameLocks noGrp="1"/>
          </p:cNvGraphicFramePr>
          <p:nvPr/>
        </p:nvGraphicFramePr>
        <p:xfrm>
          <a:off x="671830" y="2424430"/>
          <a:ext cx="7806055" cy="3413125"/>
        </p:xfrm>
        <a:graphic>
          <a:graphicData uri="http://schemas.openxmlformats.org/drawingml/2006/table">
            <a:tbl>
              <a:tblPr/>
              <a:tblGrid>
                <a:gridCol w="641350"/>
                <a:gridCol w="1358900"/>
                <a:gridCol w="863600"/>
                <a:gridCol w="4942205"/>
              </a:tblGrid>
              <a:tr h="551815">
                <a:tc gridSpan="4">
                  <a:txBody>
                    <a:bodyPr/>
                    <a:p>
                      <a:pPr algn="ctr" fontAlgn="ctr"/>
                      <a:r>
                        <a:rPr lang="zh-CN" altLang="en-US" sz="2000" b="1" i="0" u="none" strike="noStrike" dirty="0" smtClean="0">
                          <a:solidFill>
                            <a:schemeClr val="bg1"/>
                          </a:solidFill>
                          <a:effectLst/>
                          <a:latin typeface="华文楷体" pitchFamily="2" charset="-122"/>
                          <a:ea typeface="华文楷体" pitchFamily="2" charset="-122"/>
                        </a:rPr>
                        <a:t>论文研究过程</a:t>
                      </a:r>
                      <a:endParaRPr lang="zh-CN" altLang="en-US" sz="2000" b="1" i="0" u="none" strike="noStrike" dirty="0">
                        <a:solidFill>
                          <a:schemeClr val="bg1"/>
                        </a:solidFill>
                        <a:effectLst/>
                        <a:latin typeface="华文楷体" pitchFamily="2" charset="-122"/>
                        <a:ea typeface="华文楷体" pitchFamily="2" charset="-122"/>
                      </a:endParaRPr>
                    </a:p>
                  </a:txBody>
                  <a:tcPr marL="4807" marR="4807" marT="4807" marB="0" anchor="ctr">
                    <a:lnL>
                      <a:noFill/>
                    </a:lnL>
                    <a:lnR>
                      <a:noFill/>
                    </a:lnR>
                    <a:lnT>
                      <a:noFill/>
                    </a:lnT>
                    <a:lnB>
                      <a:noFill/>
                    </a:lnB>
                    <a:solidFill>
                      <a:srgbClr val="5C307D"/>
                    </a:solidFill>
                  </a:tcPr>
                </a:tc>
                <a:tc hMerge="1">
                  <a:tcPr/>
                </a:tc>
                <a:tc hMerge="1">
                  <a:tcPr/>
                </a:tc>
                <a:tc hMerge="1">
                  <a:tcPr/>
                </a:tc>
              </a:tr>
              <a:tr h="408305">
                <a:tc gridSpan="4">
                  <a:txBody>
                    <a:bodyPr/>
                    <a:p>
                      <a:pPr algn="ctr" fontAlgn="ctr"/>
                      <a:r>
                        <a:rPr lang="zh-CN" altLang="en-US" sz="1600" b="0" i="0" u="none" strike="noStrike" dirty="0" smtClean="0">
                          <a:solidFill>
                            <a:schemeClr val="tx1">
                              <a:lumMod val="85000"/>
                              <a:lumOff val="15000"/>
                            </a:schemeClr>
                          </a:solidFill>
                          <a:effectLst/>
                          <a:latin typeface="华文楷体" pitchFamily="2" charset="-122"/>
                          <a:ea typeface="华文楷体" pitchFamily="2" charset="-122"/>
                        </a:rPr>
                        <a:t>  时间：</a:t>
                      </a:r>
                      <a:r>
                        <a:rPr lang="en-US" altLang="zh-CN" sz="1600" b="0" i="0" u="none" strike="noStrike" dirty="0" smtClean="0">
                          <a:solidFill>
                            <a:schemeClr val="tx1">
                              <a:lumMod val="85000"/>
                              <a:lumOff val="15000"/>
                            </a:schemeClr>
                          </a:solidFill>
                          <a:effectLst/>
                          <a:latin typeface="华文楷体" pitchFamily="2" charset="-122"/>
                          <a:ea typeface="华文楷体" pitchFamily="2" charset="-122"/>
                        </a:rPr>
                        <a:t>2016</a:t>
                      </a:r>
                      <a:r>
                        <a:rPr lang="zh-CN" altLang="en-US" sz="1600" b="0" i="0" u="none" strike="noStrike" dirty="0" smtClean="0">
                          <a:solidFill>
                            <a:schemeClr val="tx1">
                              <a:lumMod val="85000"/>
                              <a:lumOff val="15000"/>
                            </a:schemeClr>
                          </a:solidFill>
                          <a:effectLst/>
                          <a:latin typeface="华文楷体" pitchFamily="2" charset="-122"/>
                          <a:ea typeface="华文楷体" pitchFamily="2" charset="-122"/>
                        </a:rPr>
                        <a:t>年</a:t>
                      </a:r>
                      <a:r>
                        <a:rPr lang="en-US" altLang="zh-CN" sz="1600" b="0" i="0" u="none" strike="noStrike" dirty="0" smtClean="0">
                          <a:solidFill>
                            <a:schemeClr val="tx1">
                              <a:lumMod val="85000"/>
                              <a:lumOff val="15000"/>
                            </a:schemeClr>
                          </a:solidFill>
                          <a:effectLst/>
                          <a:latin typeface="华文楷体" pitchFamily="2" charset="-122"/>
                          <a:ea typeface="华文楷体" pitchFamily="2" charset="-122"/>
                        </a:rPr>
                        <a:t>4</a:t>
                      </a:r>
                      <a:r>
                        <a:rPr lang="zh-CN" altLang="en-US" sz="1600" b="0" i="0" u="none" strike="noStrike" dirty="0" smtClean="0">
                          <a:solidFill>
                            <a:schemeClr val="tx1">
                              <a:lumMod val="85000"/>
                              <a:lumOff val="15000"/>
                            </a:schemeClr>
                          </a:solidFill>
                          <a:effectLst/>
                          <a:latin typeface="华文楷体" pitchFamily="2" charset="-122"/>
                          <a:ea typeface="华文楷体" pitchFamily="2" charset="-122"/>
                        </a:rPr>
                        <a:t>月</a:t>
                      </a:r>
                      <a:r>
                        <a:rPr lang="en-US" altLang="zh-CN" sz="1600" b="0" i="0" u="none" strike="noStrike" dirty="0" smtClean="0">
                          <a:solidFill>
                            <a:schemeClr val="tx1">
                              <a:lumMod val="85000"/>
                              <a:lumOff val="15000"/>
                            </a:schemeClr>
                          </a:solidFill>
                          <a:effectLst/>
                          <a:latin typeface="华文楷体" pitchFamily="2" charset="-122"/>
                          <a:ea typeface="华文楷体" pitchFamily="2" charset="-122"/>
                        </a:rPr>
                        <a:t>1</a:t>
                      </a:r>
                      <a:r>
                        <a:rPr lang="zh-CN" altLang="en-US" sz="1600" b="0" i="0" u="none" strike="noStrike" dirty="0" smtClean="0">
                          <a:solidFill>
                            <a:schemeClr val="tx1">
                              <a:lumMod val="85000"/>
                              <a:lumOff val="15000"/>
                            </a:schemeClr>
                          </a:solidFill>
                          <a:effectLst/>
                          <a:latin typeface="华文楷体" pitchFamily="2" charset="-122"/>
                          <a:ea typeface="华文楷体" pitchFamily="2" charset="-122"/>
                        </a:rPr>
                        <a:t>日 </a:t>
                      </a:r>
                      <a:r>
                        <a:rPr lang="en-US" altLang="zh-CN" sz="1600" b="0" i="0" u="none" strike="noStrike" dirty="0" smtClean="0">
                          <a:solidFill>
                            <a:schemeClr val="tx1">
                              <a:lumMod val="85000"/>
                              <a:lumOff val="15000"/>
                            </a:schemeClr>
                          </a:solidFill>
                          <a:effectLst/>
                          <a:latin typeface="华文楷体" pitchFamily="2" charset="-122"/>
                          <a:ea typeface="华文楷体" pitchFamily="2" charset="-122"/>
                        </a:rPr>
                        <a:t>- 6</a:t>
                      </a:r>
                      <a:r>
                        <a:rPr lang="zh-CN" altLang="en-US" sz="1600" b="0" i="0" u="none" strike="noStrike" dirty="0" smtClean="0">
                          <a:solidFill>
                            <a:schemeClr val="tx1">
                              <a:lumMod val="85000"/>
                              <a:lumOff val="15000"/>
                            </a:schemeClr>
                          </a:solidFill>
                          <a:effectLst/>
                          <a:latin typeface="华文楷体" pitchFamily="2" charset="-122"/>
                          <a:ea typeface="华文楷体" pitchFamily="2" charset="-122"/>
                        </a:rPr>
                        <a:t>月</a:t>
                      </a:r>
                      <a:r>
                        <a:rPr lang="en-US" altLang="zh-CN" sz="1600" b="0" i="0" u="none" strike="noStrike" dirty="0" smtClean="0">
                          <a:solidFill>
                            <a:schemeClr val="tx1">
                              <a:lumMod val="85000"/>
                              <a:lumOff val="15000"/>
                            </a:schemeClr>
                          </a:solidFill>
                          <a:effectLst/>
                          <a:latin typeface="华文楷体" pitchFamily="2" charset="-122"/>
                          <a:ea typeface="华文楷体" pitchFamily="2" charset="-122"/>
                        </a:rPr>
                        <a:t>21</a:t>
                      </a:r>
                      <a:r>
                        <a:rPr lang="zh-CN" altLang="en-US" sz="1600" b="0" i="0" u="none" strike="noStrike" dirty="0" smtClean="0">
                          <a:solidFill>
                            <a:schemeClr val="tx1">
                              <a:lumMod val="85000"/>
                              <a:lumOff val="15000"/>
                            </a:schemeClr>
                          </a:solidFill>
                          <a:effectLst/>
                          <a:latin typeface="华文楷体" pitchFamily="2" charset="-122"/>
                          <a:ea typeface="华文楷体" pitchFamily="2" charset="-122"/>
                        </a:rPr>
                        <a:t>日</a:t>
                      </a:r>
                      <a:endParaRPr lang="zh-CN" altLang="en-US" sz="16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a:noFill/>
                    </a:lnL>
                    <a:lnR>
                      <a:noFill/>
                    </a:lnR>
                    <a:lnT>
                      <a:noFill/>
                    </a:lnT>
                    <a:lnB w="12700" cap="flat" cmpd="sng" algn="ctr">
                      <a:solidFill>
                        <a:srgbClr val="000000"/>
                      </a:solidFill>
                      <a:prstDash val="solid"/>
                      <a:round/>
                      <a:headEnd type="none" w="med" len="med"/>
                      <a:tailEnd type="none" w="med" len="med"/>
                    </a:lnB>
                    <a:solidFill>
                      <a:schemeClr val="bg1">
                        <a:lumMod val="85000"/>
                      </a:schemeClr>
                    </a:solidFill>
                  </a:tcPr>
                </a:tc>
                <a:tc hMerge="1">
                  <a:tcPr/>
                </a:tc>
                <a:tc hMerge="1">
                  <a:tcPr/>
                </a:tc>
                <a:tc hMerge="1">
                  <a:tcPr/>
                </a:tc>
              </a:tr>
              <a:tr h="408940">
                <a:tc>
                  <a:txBody>
                    <a:bodyPr/>
                    <a:p>
                      <a:pPr algn="ctr" fontAlgn="ctr"/>
                      <a:r>
                        <a:rPr lang="zh-CN" altLang="en-US" sz="1600" b="0" i="0" u="none" strike="noStrike" dirty="0" smtClean="0">
                          <a:solidFill>
                            <a:schemeClr val="tx1">
                              <a:lumMod val="85000"/>
                              <a:lumOff val="15000"/>
                            </a:schemeClr>
                          </a:solidFill>
                          <a:effectLst/>
                          <a:latin typeface="华文楷体" pitchFamily="2" charset="-122"/>
                          <a:ea typeface="华文楷体" pitchFamily="2" charset="-122"/>
                        </a:rPr>
                        <a:t>序号</a:t>
                      </a:r>
                      <a:endParaRPr lang="zh-CN" altLang="en-US" sz="16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a:noFill/>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p>
                      <a:pPr algn="ctr" fontAlgn="ctr"/>
                      <a:r>
                        <a:rPr lang="zh-CN" altLang="en-US" sz="1600" b="0" i="0" u="none" strike="noStrike" smtClean="0">
                          <a:solidFill>
                            <a:schemeClr val="tx1">
                              <a:lumMod val="85000"/>
                              <a:lumOff val="15000"/>
                            </a:schemeClr>
                          </a:solidFill>
                          <a:effectLst/>
                          <a:latin typeface="华文楷体" pitchFamily="2" charset="-122"/>
                          <a:ea typeface="华文楷体" pitchFamily="2" charset="-122"/>
                        </a:rPr>
                        <a:t>工作任务</a:t>
                      </a:r>
                      <a:endParaRPr lang="zh-CN" altLang="en-US" sz="16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p>
                      <a:pPr algn="ctr" fontAlgn="ctr"/>
                      <a:r>
                        <a:rPr lang="zh-CN" altLang="en-US" sz="1600" b="0" i="0" u="none" strike="noStrike" dirty="0" smtClean="0">
                          <a:solidFill>
                            <a:schemeClr val="tx1">
                              <a:lumMod val="85000"/>
                              <a:lumOff val="15000"/>
                            </a:schemeClr>
                          </a:solidFill>
                          <a:effectLst/>
                          <a:latin typeface="华文楷体" pitchFamily="2" charset="-122"/>
                          <a:ea typeface="华文楷体" pitchFamily="2" charset="-122"/>
                        </a:rPr>
                        <a:t>日期</a:t>
                      </a:r>
                      <a:endParaRPr lang="zh-CN" altLang="en-US" sz="16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p>
                      <a:pPr algn="ctr" fontAlgn="ctr"/>
                      <a:r>
                        <a:rPr lang="zh-CN" altLang="en-US" sz="1600" b="0" i="0" u="none" strike="noStrike" dirty="0" smtClean="0">
                          <a:solidFill>
                            <a:schemeClr val="tx1">
                              <a:lumMod val="85000"/>
                              <a:lumOff val="15000"/>
                            </a:schemeClr>
                          </a:solidFill>
                          <a:effectLst/>
                          <a:latin typeface="华文楷体" pitchFamily="2" charset="-122"/>
                          <a:ea typeface="华文楷体" pitchFamily="2" charset="-122"/>
                        </a:rPr>
                        <a:t>备注</a:t>
                      </a:r>
                      <a:endParaRPr lang="zh-CN" altLang="en-US" sz="1600" b="0" i="0" u="none" strike="noStrike" dirty="0" smtClean="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r>
              <a:tr h="408940">
                <a:tc>
                  <a:txBody>
                    <a:bodyPr/>
                    <a:p>
                      <a:pPr algn="ctr" fontAlgn="ctr"/>
                      <a:r>
                        <a:rPr lang="en-US" altLang="zh-CN" sz="1400" b="0" i="0" u="none" strike="noStrike" dirty="0" smtClean="0">
                          <a:solidFill>
                            <a:schemeClr val="tx1">
                              <a:lumMod val="85000"/>
                              <a:lumOff val="15000"/>
                            </a:schemeClr>
                          </a:solidFill>
                          <a:effectLst/>
                          <a:latin typeface="华文楷体" pitchFamily="2" charset="-122"/>
                          <a:ea typeface="华文楷体" pitchFamily="2" charset="-122"/>
                        </a:rPr>
                        <a:t>1</a:t>
                      </a:r>
                      <a:endParaRPr lang="en-US" altLang="zh-CN"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a:noFill/>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zh-CN" altLang="en-US" sz="1400" b="0" i="0" u="none" strike="noStrike" dirty="0">
                          <a:solidFill>
                            <a:schemeClr val="tx1">
                              <a:lumMod val="85000"/>
                              <a:lumOff val="15000"/>
                            </a:schemeClr>
                          </a:solidFill>
                          <a:effectLst/>
                          <a:latin typeface="华文楷体" pitchFamily="2" charset="-122"/>
                          <a:ea typeface="华文楷体" pitchFamily="2" charset="-122"/>
                        </a:rPr>
                        <a:t>硬件购置</a:t>
                      </a:r>
                      <a:endParaRPr lang="zh-CN" altLang="en-US"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en-US" altLang="zh-CN" sz="1400" b="0" i="0" u="none" strike="noStrike" dirty="0">
                          <a:solidFill>
                            <a:schemeClr val="tx1">
                              <a:lumMod val="85000"/>
                              <a:lumOff val="15000"/>
                            </a:schemeClr>
                          </a:solidFill>
                          <a:effectLst/>
                          <a:latin typeface="华文楷体" pitchFamily="2" charset="-122"/>
                          <a:ea typeface="华文楷体" pitchFamily="2" charset="-122"/>
                        </a:rPr>
                        <a:t>4.1-5.16</a:t>
                      </a:r>
                      <a:endParaRPr lang="zh-CN" altLang="en-US"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zh-CN" altLang="en-US" sz="1400" b="0" i="0" u="none" strike="noStrike">
                          <a:solidFill>
                            <a:schemeClr val="tx1">
                              <a:lumMod val="85000"/>
                              <a:lumOff val="15000"/>
                            </a:schemeClr>
                          </a:solidFill>
                          <a:effectLst/>
                          <a:latin typeface="华文楷体" pitchFamily="2" charset="-122"/>
                          <a:ea typeface="华文楷体" pitchFamily="2" charset="-122"/>
                        </a:rPr>
                        <a:t>增加功能或焊接错误，购置新的硬件</a:t>
                      </a:r>
                      <a:endParaRPr lang="zh-CN" altLang="en-US" sz="1400" b="0" i="0" u="none" strike="noStrike">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r>
              <a:tr h="409575">
                <a:tc>
                  <a:txBody>
                    <a:bodyPr/>
                    <a:p>
                      <a:pPr algn="ctr" fontAlgn="ctr"/>
                      <a:r>
                        <a:rPr lang="en-US" altLang="zh-CN" sz="1400" b="0" i="0" u="none" strike="noStrike" dirty="0" smtClean="0">
                          <a:solidFill>
                            <a:schemeClr val="tx1">
                              <a:lumMod val="85000"/>
                              <a:lumOff val="15000"/>
                            </a:schemeClr>
                          </a:solidFill>
                          <a:effectLst/>
                          <a:latin typeface="华文楷体" pitchFamily="2" charset="-122"/>
                          <a:ea typeface="华文楷体" pitchFamily="2" charset="-122"/>
                        </a:rPr>
                        <a:t>2</a:t>
                      </a:r>
                      <a:endParaRPr lang="en-US" altLang="zh-CN"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zh-CN" altLang="en-US" sz="1400" b="0" i="0" u="none" strike="noStrike" dirty="0">
                          <a:solidFill>
                            <a:schemeClr val="tx1">
                              <a:lumMod val="85000"/>
                              <a:lumOff val="15000"/>
                            </a:schemeClr>
                          </a:solidFill>
                          <a:effectLst/>
                          <a:latin typeface="华文楷体" pitchFamily="2" charset="-122"/>
                          <a:ea typeface="华文楷体" pitchFamily="2" charset="-122"/>
                        </a:rPr>
                        <a:t>焊接组装</a:t>
                      </a:r>
                      <a:endParaRPr lang="zh-CN" altLang="en-US"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en-US" altLang="zh-CN" sz="1400" b="0" i="0" u="none" strike="noStrike" dirty="0">
                          <a:solidFill>
                            <a:schemeClr val="tx1">
                              <a:lumMod val="85000"/>
                              <a:lumOff val="15000"/>
                            </a:schemeClr>
                          </a:solidFill>
                          <a:effectLst/>
                          <a:latin typeface="华文楷体" pitchFamily="2" charset="-122"/>
                          <a:ea typeface="华文楷体" pitchFamily="2" charset="-122"/>
                        </a:rPr>
                        <a:t>4.7-5.17</a:t>
                      </a:r>
                      <a:endParaRPr lang="en-US" altLang="zh-CN"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zh-CN" altLang="en-US" sz="1400" b="0" i="0" u="none" strike="noStrike" dirty="0">
                          <a:solidFill>
                            <a:schemeClr val="tx1">
                              <a:lumMod val="85000"/>
                              <a:lumOff val="15000"/>
                            </a:schemeClr>
                          </a:solidFill>
                          <a:effectLst/>
                          <a:latin typeface="华文楷体" pitchFamily="2" charset="-122"/>
                          <a:ea typeface="华文楷体" pitchFamily="2" charset="-122"/>
                        </a:rPr>
                        <a:t>焊接电路板与硬件，并组装整个小车</a:t>
                      </a:r>
                      <a:endParaRPr lang="zh-CN" altLang="en-US"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r>
              <a:tr h="408305">
                <a:tc>
                  <a:txBody>
                    <a:bodyPr/>
                    <a:p>
                      <a:pPr algn="ctr" fontAlgn="ctr"/>
                      <a:r>
                        <a:rPr lang="en-US" altLang="zh-CN" sz="1400" b="0" i="0" u="none" strike="noStrike" dirty="0" smtClean="0">
                          <a:solidFill>
                            <a:schemeClr val="tx1">
                              <a:lumMod val="85000"/>
                              <a:lumOff val="15000"/>
                            </a:schemeClr>
                          </a:solidFill>
                          <a:effectLst/>
                          <a:latin typeface="华文楷体" pitchFamily="2" charset="-122"/>
                          <a:ea typeface="华文楷体" pitchFamily="2" charset="-122"/>
                        </a:rPr>
                        <a:t>3</a:t>
                      </a:r>
                      <a:endParaRPr lang="en-US" altLang="zh-CN"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zh-CN" altLang="en-US" sz="1400" b="0" i="0" u="none" strike="noStrike" dirty="0">
                          <a:solidFill>
                            <a:schemeClr val="tx1">
                              <a:lumMod val="85000"/>
                              <a:lumOff val="15000"/>
                            </a:schemeClr>
                          </a:solidFill>
                          <a:effectLst/>
                          <a:latin typeface="华文楷体" pitchFamily="2" charset="-122"/>
                          <a:ea typeface="华文楷体" pitchFamily="2" charset="-122"/>
                        </a:rPr>
                        <a:t>程序编写与烧入</a:t>
                      </a:r>
                      <a:endParaRPr lang="zh-CN" altLang="en-US"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en-US" altLang="zh-CN" sz="1400" b="0" i="0" u="none" strike="noStrike" dirty="0">
                          <a:solidFill>
                            <a:schemeClr val="tx1">
                              <a:lumMod val="85000"/>
                              <a:lumOff val="15000"/>
                            </a:schemeClr>
                          </a:solidFill>
                          <a:effectLst/>
                          <a:latin typeface="华文楷体" pitchFamily="2" charset="-122"/>
                          <a:ea typeface="华文楷体" pitchFamily="2" charset="-122"/>
                        </a:rPr>
                        <a:t>4.20-6.15</a:t>
                      </a:r>
                      <a:endParaRPr lang="en-US" altLang="zh-CN"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zh-CN" altLang="en-US" sz="1400" b="0" i="0" u="none" strike="noStrike" dirty="0">
                          <a:solidFill>
                            <a:schemeClr val="tx1">
                              <a:lumMod val="85000"/>
                              <a:lumOff val="15000"/>
                            </a:schemeClr>
                          </a:solidFill>
                          <a:effectLst/>
                          <a:latin typeface="华文楷体" pitchFamily="2" charset="-122"/>
                          <a:ea typeface="华文楷体" pitchFamily="2" charset="-122"/>
                        </a:rPr>
                        <a:t>编写程序，并烧写进单片机</a:t>
                      </a:r>
                      <a:endParaRPr lang="zh-CN" altLang="en-US"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r>
              <a:tr h="408940">
                <a:tc>
                  <a:txBody>
                    <a:bodyPr/>
                    <a:p>
                      <a:pPr algn="ctr" fontAlgn="ctr"/>
                      <a:r>
                        <a:rPr lang="en-US" altLang="zh-CN" sz="1400" b="0" i="0" u="none" strike="noStrike" dirty="0" smtClean="0">
                          <a:solidFill>
                            <a:schemeClr val="tx1">
                              <a:lumMod val="85000"/>
                              <a:lumOff val="15000"/>
                            </a:schemeClr>
                          </a:solidFill>
                          <a:effectLst/>
                          <a:latin typeface="华文楷体" pitchFamily="2" charset="-122"/>
                          <a:ea typeface="华文楷体" pitchFamily="2" charset="-122"/>
                        </a:rPr>
                        <a:t>4</a:t>
                      </a:r>
                      <a:endParaRPr lang="en-US" altLang="zh-CN"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zh-CN" altLang="en-US" sz="1400" b="0" i="0" u="none" strike="noStrike">
                          <a:solidFill>
                            <a:schemeClr val="tx1">
                              <a:lumMod val="85000"/>
                              <a:lumOff val="15000"/>
                            </a:schemeClr>
                          </a:solidFill>
                          <a:effectLst/>
                          <a:latin typeface="华文楷体" pitchFamily="2" charset="-122"/>
                          <a:ea typeface="华文楷体" pitchFamily="2" charset="-122"/>
                        </a:rPr>
                        <a:t>测试</a:t>
                      </a:r>
                      <a:endParaRPr lang="zh-CN" altLang="en-US" sz="1400" b="0" i="0" u="none" strike="noStrike">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en-US" altLang="zh-CN" sz="1400" b="0" i="0" u="none" strike="noStrike" dirty="0">
                          <a:solidFill>
                            <a:schemeClr val="tx1">
                              <a:lumMod val="85000"/>
                              <a:lumOff val="15000"/>
                            </a:schemeClr>
                          </a:solidFill>
                          <a:effectLst/>
                          <a:latin typeface="华文楷体" pitchFamily="2" charset="-122"/>
                          <a:ea typeface="华文楷体" pitchFamily="2" charset="-122"/>
                        </a:rPr>
                        <a:t>5..8-6.20</a:t>
                      </a:r>
                      <a:endParaRPr lang="zh-CN" altLang="en-US"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zh-CN" altLang="en-US" sz="1400" b="0" i="0" u="none" strike="noStrike" dirty="0">
                          <a:solidFill>
                            <a:schemeClr val="tx1">
                              <a:lumMod val="85000"/>
                              <a:lumOff val="15000"/>
                            </a:schemeClr>
                          </a:solidFill>
                          <a:effectLst/>
                          <a:latin typeface="华文楷体" pitchFamily="2" charset="-122"/>
                          <a:ea typeface="华文楷体" pitchFamily="2" charset="-122"/>
                        </a:rPr>
                        <a:t>实际环境对小车进行测试，从模块测试到结合测试</a:t>
                      </a:r>
                      <a:endParaRPr lang="zh-CN" altLang="en-US"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r>
              <a:tr h="408305">
                <a:tc>
                  <a:txBody>
                    <a:bodyPr/>
                    <a:p>
                      <a:pPr algn="ctr" fontAlgn="ctr"/>
                      <a:r>
                        <a:rPr lang="en-US" altLang="zh-CN" sz="1400" b="0" i="0" u="none" strike="noStrike" dirty="0" smtClean="0">
                          <a:solidFill>
                            <a:schemeClr val="tx1">
                              <a:lumMod val="85000"/>
                              <a:lumOff val="15000"/>
                            </a:schemeClr>
                          </a:solidFill>
                          <a:effectLst/>
                          <a:latin typeface="华文楷体" pitchFamily="2" charset="-122"/>
                          <a:ea typeface="华文楷体" pitchFamily="2" charset="-122"/>
                        </a:rPr>
                        <a:t>5</a:t>
                      </a:r>
                      <a:endParaRPr lang="en-US" altLang="zh-CN"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a:noFill/>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zh-CN" altLang="en-US" sz="1400" b="0" i="0" u="none" strike="noStrike" dirty="0">
                          <a:solidFill>
                            <a:schemeClr val="tx1">
                              <a:lumMod val="85000"/>
                              <a:lumOff val="15000"/>
                            </a:schemeClr>
                          </a:solidFill>
                          <a:effectLst/>
                          <a:latin typeface="华文楷体" pitchFamily="2" charset="-122"/>
                          <a:ea typeface="华文楷体" pitchFamily="2" charset="-122"/>
                        </a:rPr>
                        <a:t>程序调试</a:t>
                      </a:r>
                      <a:endParaRPr lang="zh-CN" altLang="en-US"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en-US" altLang="zh-CN" sz="1400" b="0" i="0" u="none" strike="noStrike">
                          <a:solidFill>
                            <a:schemeClr val="tx1">
                              <a:lumMod val="85000"/>
                              <a:lumOff val="15000"/>
                            </a:schemeClr>
                          </a:solidFill>
                          <a:effectLst/>
                          <a:latin typeface="华文楷体" pitchFamily="2" charset="-122"/>
                          <a:ea typeface="华文楷体" pitchFamily="2" charset="-122"/>
                        </a:rPr>
                        <a:t>5.9-6.21</a:t>
                      </a:r>
                      <a:endParaRPr lang="en-US" altLang="zh-CN" sz="1400" b="0" i="0" u="none" strike="noStrike">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c>
                  <a:txBody>
                    <a:bodyPr/>
                    <a:p>
                      <a:pPr algn="ctr" fontAlgn="ctr"/>
                      <a:r>
                        <a:rPr lang="zh-CN" altLang="en-US" sz="1400" b="0" i="0" u="none" strike="noStrike" dirty="0">
                          <a:solidFill>
                            <a:schemeClr val="tx1">
                              <a:lumMod val="85000"/>
                              <a:lumOff val="15000"/>
                            </a:schemeClr>
                          </a:solidFill>
                          <a:effectLst/>
                          <a:latin typeface="华文楷体" pitchFamily="2" charset="-122"/>
                          <a:ea typeface="华文楷体" pitchFamily="2" charset="-122"/>
                        </a:rPr>
                        <a:t>对小车进行调试完善功能</a:t>
                      </a:r>
                      <a:endParaRPr lang="zh-CN" altLang="en-US" sz="1400" b="0" i="0" u="none" strike="noStrike" dirty="0">
                        <a:solidFill>
                          <a:schemeClr val="tx1">
                            <a:lumMod val="85000"/>
                            <a:lumOff val="15000"/>
                          </a:schemeClr>
                        </a:solidFill>
                        <a:effectLst/>
                        <a:latin typeface="华文楷体" pitchFamily="2" charset="-122"/>
                        <a:ea typeface="华文楷体" pitchFamily="2" charset="-122"/>
                      </a:endParaRPr>
                    </a:p>
                  </a:txBody>
                  <a:tcPr marL="4807" marR="4807" marT="4807" marB="0" anchor="ctr">
                    <a:lnL w="6350" cap="flat" cmpd="sng" algn="ctr">
                      <a:solidFill>
                        <a:srgbClr val="000000"/>
                      </a:solidFill>
                      <a:prstDash val="dot"/>
                      <a:round/>
                      <a:headEnd type="none" w="med" len="med"/>
                      <a:tailEnd type="none" w="med" len="med"/>
                    </a:lnL>
                    <a:lnR>
                      <a:noFill/>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solidFill>
                      <a:schemeClr val="bg1">
                        <a:lumMod val="95000"/>
                      </a:schemeClr>
                    </a:solidFill>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75" y="0"/>
            <a:ext cx="9147175" cy="46038"/>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6" name="直接连接符 5"/>
          <p:cNvCxnSpPr/>
          <p:nvPr/>
        </p:nvCxnSpPr>
        <p:spPr>
          <a:xfrm>
            <a:off x="-14288" y="1201738"/>
            <a:ext cx="91471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175" y="6640513"/>
            <a:ext cx="9147175" cy="217487"/>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437" name="文本框 10"/>
          <p:cNvSpPr txBox="1">
            <a:spLocks noChangeArrowheads="1"/>
          </p:cNvSpPr>
          <p:nvPr/>
        </p:nvSpPr>
        <p:spPr bwMode="auto">
          <a:xfrm>
            <a:off x="258604"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选题背景</a:t>
            </a:r>
            <a:endParaRPr lang="zh-CN" altLang="en-US">
              <a:solidFill>
                <a:schemeClr val="tx1"/>
              </a:solidFill>
              <a:latin typeface="华文楷体"/>
              <a:ea typeface="华文楷体"/>
              <a:cs typeface="华文楷体"/>
            </a:endParaRPr>
          </a:p>
        </p:txBody>
      </p:sp>
      <p:sp>
        <p:nvSpPr>
          <p:cNvPr id="18438" name="文本框 11"/>
          <p:cNvSpPr txBox="1">
            <a:spLocks noChangeArrowheads="1"/>
          </p:cNvSpPr>
          <p:nvPr/>
        </p:nvSpPr>
        <p:spPr bwMode="auto">
          <a:xfrm>
            <a:off x="1515110"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选题意义</a:t>
            </a:r>
            <a:endParaRPr lang="zh-CN" altLang="en-US">
              <a:solidFill>
                <a:schemeClr val="tx1"/>
              </a:solidFill>
              <a:latin typeface="华文楷体"/>
              <a:ea typeface="华文楷体"/>
              <a:cs typeface="华文楷体"/>
            </a:endParaRPr>
          </a:p>
        </p:txBody>
      </p:sp>
      <p:sp>
        <p:nvSpPr>
          <p:cNvPr id="18439" name="文本框 12"/>
          <p:cNvSpPr txBox="1">
            <a:spLocks noChangeArrowheads="1"/>
          </p:cNvSpPr>
          <p:nvPr/>
        </p:nvSpPr>
        <p:spPr bwMode="auto">
          <a:xfrm>
            <a:off x="2772411" y="1303338"/>
            <a:ext cx="1097280" cy="365760"/>
          </a:xfrm>
          <a:prstGeom prst="rect">
            <a:avLst/>
          </a:prstGeom>
          <a:solidFill>
            <a:srgbClr val="5C307D"/>
          </a:solidFill>
          <a:ln w="9525">
            <a:noFill/>
            <a:miter lim="800000"/>
          </a:ln>
        </p:spPr>
        <p:txBody>
          <a:bodyPr wrap="none">
            <a:spAutoFit/>
          </a:bodyPr>
          <a:lstStyle/>
          <a:p>
            <a:pPr algn="ctr"/>
            <a:r>
              <a:rPr lang="zh-CN" altLang="en-US">
                <a:solidFill>
                  <a:schemeClr val="bg1"/>
                </a:solidFill>
                <a:latin typeface="华文楷体"/>
                <a:ea typeface="华文楷体"/>
                <a:cs typeface="华文楷体"/>
              </a:rPr>
              <a:t>研究过程</a:t>
            </a:r>
            <a:endParaRPr lang="zh-CN" altLang="en-US">
              <a:solidFill>
                <a:schemeClr val="bg1"/>
              </a:solidFill>
              <a:latin typeface="华文楷体"/>
              <a:ea typeface="华文楷体"/>
              <a:cs typeface="华文楷体"/>
            </a:endParaRPr>
          </a:p>
        </p:txBody>
      </p:sp>
      <p:sp>
        <p:nvSpPr>
          <p:cNvPr id="18440" name="文本框 13"/>
          <p:cNvSpPr txBox="1">
            <a:spLocks noChangeArrowheads="1"/>
          </p:cNvSpPr>
          <p:nvPr/>
        </p:nvSpPr>
        <p:spPr bwMode="auto">
          <a:xfrm>
            <a:off x="40297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研究结论</a:t>
            </a:r>
            <a:endParaRPr lang="zh-CN" altLang="en-US">
              <a:latin typeface="华文楷体"/>
              <a:ea typeface="华文楷体"/>
              <a:cs typeface="华文楷体"/>
            </a:endParaRPr>
          </a:p>
        </p:txBody>
      </p:sp>
      <p:sp>
        <p:nvSpPr>
          <p:cNvPr id="2" name="文本框 1"/>
          <p:cNvSpPr txBox="1"/>
          <p:nvPr/>
        </p:nvSpPr>
        <p:spPr>
          <a:xfrm>
            <a:off x="395605" y="260985"/>
            <a:ext cx="4320000" cy="720000"/>
          </a:xfrm>
          <a:prstGeom prst="rect">
            <a:avLst/>
          </a:prstGeom>
          <a:noFill/>
        </p:spPr>
        <p:txBody>
          <a:bodyPr wrap="square" rtlCol="0">
            <a:spAutoFit/>
          </a:bodyPr>
          <a:p>
            <a:r>
              <a:rPr lang="zh-CN" altLang="en-US" sz="3600" i="1">
                <a:latin typeface="楷体" charset="0"/>
                <a:ea typeface="楷体" charset="0"/>
              </a:rPr>
              <a:t>辽宁工程技术大学</a:t>
            </a:r>
            <a:endParaRPr lang="zh-CN" altLang="en-US" sz="3600" i="1">
              <a:latin typeface="楷体" charset="0"/>
              <a:ea typeface="楷体" charset="0"/>
            </a:endParaRPr>
          </a:p>
        </p:txBody>
      </p:sp>
      <p:sp>
        <p:nvSpPr>
          <p:cNvPr id="7" name="文本框 6"/>
          <p:cNvSpPr txBox="1"/>
          <p:nvPr/>
        </p:nvSpPr>
        <p:spPr>
          <a:xfrm>
            <a:off x="748030" y="2042795"/>
            <a:ext cx="7496175" cy="1188720"/>
          </a:xfrm>
          <a:prstGeom prst="rect">
            <a:avLst/>
          </a:prstGeom>
          <a:noFill/>
        </p:spPr>
        <p:txBody>
          <a:bodyPr wrap="square" rtlCol="0">
            <a:spAutoFit/>
          </a:bodyPr>
          <a:p>
            <a:r>
              <a:rPr lang="zh-CN" altLang="en-US">
                <a:latin typeface="华文楷体" charset="0"/>
                <a:ea typeface="华文楷体" charset="0"/>
              </a:rPr>
              <a:t>采购硬件：</a:t>
            </a:r>
            <a:r>
              <a:rPr lang="en-US" altLang="zh-CN">
                <a:latin typeface="华文楷体" charset="0"/>
                <a:ea typeface="华文楷体" charset="0"/>
              </a:rPr>
              <a:t>STC89C52RC</a:t>
            </a:r>
            <a:r>
              <a:rPr lang="zh-CN" altLang="en-US">
                <a:latin typeface="华文楷体" charset="0"/>
                <a:ea typeface="华文楷体" charset="0"/>
              </a:rPr>
              <a:t>单片机；</a:t>
            </a:r>
            <a:r>
              <a:rPr lang="en-US" altLang="zh-CN">
                <a:latin typeface="华文楷体" charset="0"/>
                <a:ea typeface="华文楷体" charset="0"/>
              </a:rPr>
              <a:t>HC-06</a:t>
            </a:r>
            <a:r>
              <a:rPr lang="zh-CN" altLang="en-US">
                <a:latin typeface="华文楷体" charset="0"/>
                <a:ea typeface="华文楷体" charset="0"/>
              </a:rPr>
              <a:t>蓝牙适配器：两组红外对管；</a:t>
            </a:r>
            <a:endParaRPr lang="zh-CN" altLang="en-US">
              <a:latin typeface="华文楷体" charset="0"/>
              <a:ea typeface="华文楷体" charset="0"/>
            </a:endParaRPr>
          </a:p>
          <a:p>
            <a:r>
              <a:rPr lang="zh-CN" altLang="en-US">
                <a:latin typeface="华文楷体" charset="0"/>
                <a:ea typeface="华文楷体" charset="0"/>
              </a:rPr>
              <a:t>红外信号接收器；超声波传感器；舵机；小车底盘；蓄电池；直流电机。</a:t>
            </a:r>
            <a:endParaRPr lang="zh-CN" altLang="en-US">
              <a:latin typeface="华文楷体" charset="0"/>
              <a:ea typeface="华文楷体" charset="0"/>
            </a:endParaRPr>
          </a:p>
          <a:p>
            <a:endParaRPr lang="zh-CN" altLang="en-US">
              <a:latin typeface="华文楷体" charset="0"/>
              <a:ea typeface="华文楷体" charset="0"/>
            </a:endParaRPr>
          </a:p>
          <a:p>
            <a:r>
              <a:rPr lang="zh-CN" altLang="en-US">
                <a:latin typeface="华文楷体" charset="0"/>
                <a:ea typeface="华文楷体" charset="0"/>
              </a:rPr>
              <a:t>涉及技术：</a:t>
            </a:r>
            <a:r>
              <a:rPr lang="en-US" altLang="zh-CN">
                <a:latin typeface="华文楷体" charset="0"/>
                <a:ea typeface="华文楷体" charset="0"/>
              </a:rPr>
              <a:t>H</a:t>
            </a:r>
            <a:r>
              <a:rPr lang="zh-CN" altLang="en-US">
                <a:latin typeface="华文楷体" charset="0"/>
                <a:ea typeface="华文楷体" charset="0"/>
              </a:rPr>
              <a:t>桥路；</a:t>
            </a:r>
            <a:r>
              <a:rPr lang="en-US" altLang="zh-CN">
                <a:latin typeface="华文楷体" charset="0"/>
                <a:ea typeface="华文楷体" charset="0"/>
              </a:rPr>
              <a:t>pwm</a:t>
            </a:r>
            <a:r>
              <a:rPr lang="zh-CN" altLang="en-US">
                <a:latin typeface="华文楷体" charset="0"/>
                <a:ea typeface="华文楷体" charset="0"/>
              </a:rPr>
              <a:t>调速；中断。</a:t>
            </a:r>
            <a:endParaRPr lang="zh-CN" altLang="en-US">
              <a:latin typeface="华文楷体" charset="0"/>
              <a:ea typeface="华文楷体"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75" y="0"/>
            <a:ext cx="9147175" cy="46038"/>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cxnSp>
        <p:nvCxnSpPr>
          <p:cNvPr id="6" name="直接连接符 5"/>
          <p:cNvCxnSpPr/>
          <p:nvPr/>
        </p:nvCxnSpPr>
        <p:spPr>
          <a:xfrm>
            <a:off x="-14288" y="1201738"/>
            <a:ext cx="91471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175" y="6640513"/>
            <a:ext cx="9147175" cy="217487"/>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437" name="文本框 10"/>
          <p:cNvSpPr txBox="1">
            <a:spLocks noChangeArrowheads="1"/>
          </p:cNvSpPr>
          <p:nvPr/>
        </p:nvSpPr>
        <p:spPr bwMode="auto">
          <a:xfrm>
            <a:off x="258604"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选题背景</a:t>
            </a:r>
            <a:endParaRPr lang="zh-CN" altLang="en-US">
              <a:solidFill>
                <a:schemeClr val="tx1"/>
              </a:solidFill>
              <a:latin typeface="华文楷体"/>
              <a:ea typeface="华文楷体"/>
              <a:cs typeface="华文楷体"/>
            </a:endParaRPr>
          </a:p>
        </p:txBody>
      </p:sp>
      <p:sp>
        <p:nvSpPr>
          <p:cNvPr id="18438" name="文本框 11"/>
          <p:cNvSpPr txBox="1">
            <a:spLocks noChangeArrowheads="1"/>
          </p:cNvSpPr>
          <p:nvPr/>
        </p:nvSpPr>
        <p:spPr bwMode="auto">
          <a:xfrm>
            <a:off x="1515110" y="1303338"/>
            <a:ext cx="1097280" cy="365760"/>
          </a:xfrm>
          <a:prstGeom prst="rect">
            <a:avLst/>
          </a:prstGeom>
          <a:noFill/>
          <a:ln w="9525">
            <a:noFill/>
            <a:miter lim="800000"/>
          </a:ln>
        </p:spPr>
        <p:txBody>
          <a:bodyPr wrap="none">
            <a:spAutoFit/>
          </a:bodyPr>
          <a:lstStyle/>
          <a:p>
            <a:pPr algn="ctr"/>
            <a:r>
              <a:rPr lang="zh-CN" altLang="en-US">
                <a:solidFill>
                  <a:schemeClr val="tx1"/>
                </a:solidFill>
                <a:latin typeface="华文楷体"/>
                <a:ea typeface="华文楷体"/>
                <a:cs typeface="华文楷体"/>
              </a:rPr>
              <a:t>选题意义</a:t>
            </a:r>
            <a:endParaRPr lang="zh-CN" altLang="en-US">
              <a:solidFill>
                <a:schemeClr val="tx1"/>
              </a:solidFill>
              <a:latin typeface="华文楷体"/>
              <a:ea typeface="华文楷体"/>
              <a:cs typeface="华文楷体"/>
            </a:endParaRPr>
          </a:p>
        </p:txBody>
      </p:sp>
      <p:sp>
        <p:nvSpPr>
          <p:cNvPr id="18439" name="文本框 12"/>
          <p:cNvSpPr txBox="1">
            <a:spLocks noChangeArrowheads="1"/>
          </p:cNvSpPr>
          <p:nvPr/>
        </p:nvSpPr>
        <p:spPr bwMode="auto">
          <a:xfrm>
            <a:off x="2772411" y="1303338"/>
            <a:ext cx="1097280" cy="365760"/>
          </a:xfrm>
          <a:prstGeom prst="rect">
            <a:avLst/>
          </a:prstGeom>
          <a:noFill/>
          <a:ln w="9525">
            <a:noFill/>
            <a:miter lim="800000"/>
          </a:ln>
        </p:spPr>
        <p:txBody>
          <a:bodyPr wrap="none">
            <a:spAutoFit/>
          </a:bodyPr>
          <a:lstStyle/>
          <a:p>
            <a:pPr algn="ctr"/>
            <a:r>
              <a:rPr lang="zh-CN" altLang="en-US">
                <a:latin typeface="华文楷体"/>
                <a:ea typeface="华文楷体"/>
                <a:cs typeface="华文楷体"/>
              </a:rPr>
              <a:t>研究过程</a:t>
            </a:r>
            <a:endParaRPr lang="zh-CN" altLang="en-US">
              <a:latin typeface="华文楷体"/>
              <a:ea typeface="华文楷体"/>
              <a:cs typeface="华文楷体"/>
            </a:endParaRPr>
          </a:p>
        </p:txBody>
      </p:sp>
      <p:sp>
        <p:nvSpPr>
          <p:cNvPr id="18440" name="文本框 13"/>
          <p:cNvSpPr txBox="1">
            <a:spLocks noChangeArrowheads="1"/>
          </p:cNvSpPr>
          <p:nvPr/>
        </p:nvSpPr>
        <p:spPr bwMode="auto">
          <a:xfrm>
            <a:off x="4029711" y="1303338"/>
            <a:ext cx="1097280" cy="365760"/>
          </a:xfrm>
          <a:prstGeom prst="rect">
            <a:avLst/>
          </a:prstGeom>
          <a:solidFill>
            <a:srgbClr val="5C307D"/>
          </a:solidFill>
          <a:ln w="9525">
            <a:noFill/>
            <a:miter lim="800000"/>
          </a:ln>
        </p:spPr>
        <p:txBody>
          <a:bodyPr wrap="none">
            <a:spAutoFit/>
          </a:bodyPr>
          <a:lstStyle/>
          <a:p>
            <a:pPr algn="ctr"/>
            <a:r>
              <a:rPr lang="zh-CN" altLang="en-US">
                <a:solidFill>
                  <a:schemeClr val="bg1"/>
                </a:solidFill>
                <a:latin typeface="华文楷体"/>
                <a:ea typeface="华文楷体"/>
                <a:cs typeface="华文楷体"/>
              </a:rPr>
              <a:t>研究结论</a:t>
            </a:r>
            <a:endParaRPr lang="zh-CN" altLang="en-US">
              <a:solidFill>
                <a:schemeClr val="bg1"/>
              </a:solidFill>
              <a:latin typeface="华文楷体"/>
              <a:ea typeface="华文楷体"/>
              <a:cs typeface="华文楷体"/>
            </a:endParaRPr>
          </a:p>
        </p:txBody>
      </p:sp>
      <p:grpSp>
        <p:nvGrpSpPr>
          <p:cNvPr id="18444" name="组合 17"/>
          <p:cNvGrpSpPr/>
          <p:nvPr/>
        </p:nvGrpSpPr>
        <p:grpSpPr bwMode="auto">
          <a:xfrm>
            <a:off x="4879975" y="2520950"/>
            <a:ext cx="3171825" cy="2724150"/>
            <a:chOff x="4572000" y="2445108"/>
            <a:chExt cx="5803941" cy="2723550"/>
          </a:xfrm>
        </p:grpSpPr>
        <p:sp>
          <p:nvSpPr>
            <p:cNvPr id="19" name="直接连接符 18"/>
            <p:cNvSpPr/>
            <p:nvPr/>
          </p:nvSpPr>
          <p:spPr>
            <a:xfrm>
              <a:off x="4572000" y="5168658"/>
              <a:ext cx="5803941" cy="0"/>
            </a:xfrm>
            <a:prstGeom prst="line">
              <a:avLst/>
            </a:prstGeom>
            <a:ln>
              <a:solidFill>
                <a:schemeClr val="tx1">
                  <a:lumMod val="75000"/>
                  <a:lumOff val="2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20" name="直接连接符 19"/>
            <p:cNvSpPr/>
            <p:nvPr/>
          </p:nvSpPr>
          <p:spPr>
            <a:xfrm>
              <a:off x="4572000" y="3806883"/>
              <a:ext cx="5803941" cy="0"/>
            </a:xfrm>
            <a:prstGeom prst="line">
              <a:avLst/>
            </a:prstGeom>
            <a:ln>
              <a:solidFill>
                <a:schemeClr val="tx1">
                  <a:lumMod val="75000"/>
                  <a:lumOff val="2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21" name="直接连接符 20"/>
            <p:cNvSpPr/>
            <p:nvPr/>
          </p:nvSpPr>
          <p:spPr>
            <a:xfrm>
              <a:off x="4572000" y="2445108"/>
              <a:ext cx="5803941" cy="0"/>
            </a:xfrm>
            <a:prstGeom prst="line">
              <a:avLst/>
            </a:prstGeom>
            <a:ln>
              <a:solidFill>
                <a:schemeClr val="tx1">
                  <a:lumMod val="75000"/>
                  <a:lumOff val="25000"/>
                </a:schemeClr>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grpSp>
      <p:sp>
        <p:nvSpPr>
          <p:cNvPr id="23" name="任意多边形 22"/>
          <p:cNvSpPr/>
          <p:nvPr/>
        </p:nvSpPr>
        <p:spPr>
          <a:xfrm>
            <a:off x="4879975" y="2074863"/>
            <a:ext cx="1728000" cy="432000"/>
          </a:xfrm>
          <a:custGeom>
            <a:avLst/>
            <a:gdLst>
              <a:gd name="connsiteX0" fmla="*/ 74421 w 1509024"/>
              <a:gd name="connsiteY0" fmla="*/ 0 h 446439"/>
              <a:gd name="connsiteX1" fmla="*/ 1434603 w 1509024"/>
              <a:gd name="connsiteY1" fmla="*/ 0 h 446439"/>
              <a:gd name="connsiteX2" fmla="*/ 1509024 w 1509024"/>
              <a:gd name="connsiteY2" fmla="*/ 74421 h 446439"/>
              <a:gd name="connsiteX3" fmla="*/ 1509024 w 1509024"/>
              <a:gd name="connsiteY3" fmla="*/ 446439 h 446439"/>
              <a:gd name="connsiteX4" fmla="*/ 1509024 w 1509024"/>
              <a:gd name="connsiteY4" fmla="*/ 446439 h 446439"/>
              <a:gd name="connsiteX5" fmla="*/ 0 w 1509024"/>
              <a:gd name="connsiteY5" fmla="*/ 446439 h 446439"/>
              <a:gd name="connsiteX6" fmla="*/ 0 w 1509024"/>
              <a:gd name="connsiteY6" fmla="*/ 446439 h 446439"/>
              <a:gd name="connsiteX7" fmla="*/ 0 w 1509024"/>
              <a:gd name="connsiteY7" fmla="*/ 74421 h 446439"/>
              <a:gd name="connsiteX8" fmla="*/ 74421 w 1509024"/>
              <a:gd name="connsiteY8" fmla="*/ 0 h 44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024" h="446439">
                <a:moveTo>
                  <a:pt x="74421" y="0"/>
                </a:moveTo>
                <a:lnTo>
                  <a:pt x="1434603" y="0"/>
                </a:lnTo>
                <a:cubicBezTo>
                  <a:pt x="1475705" y="0"/>
                  <a:pt x="1509024" y="33319"/>
                  <a:pt x="1509024" y="74421"/>
                </a:cubicBezTo>
                <a:lnTo>
                  <a:pt x="1509024" y="446439"/>
                </a:lnTo>
                <a:lnTo>
                  <a:pt x="1509024" y="446439"/>
                </a:lnTo>
                <a:lnTo>
                  <a:pt x="0" y="446439"/>
                </a:lnTo>
                <a:lnTo>
                  <a:pt x="0" y="446439"/>
                </a:lnTo>
                <a:lnTo>
                  <a:pt x="0" y="74421"/>
                </a:lnTo>
                <a:cubicBezTo>
                  <a:pt x="0" y="33319"/>
                  <a:pt x="33319" y="0"/>
                  <a:pt x="74421" y="0"/>
                </a:cubicBezTo>
                <a:close/>
              </a:path>
            </a:pathLst>
          </a:custGeom>
          <a:solidFill>
            <a:srgbClr val="5C307D"/>
          </a:solidFill>
          <a:ln>
            <a:no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0" tIns="0" rIns="0" bIns="0" spcCol="1270" anchor="ctr"/>
          <a:lstStyle/>
          <a:p>
            <a:pPr fontAlgn="auto">
              <a:lnSpc>
                <a:spcPct val="90000"/>
              </a:lnSpc>
              <a:spcAft>
                <a:spcPct val="35000"/>
              </a:spcAft>
              <a:defRPr/>
            </a:pPr>
            <a:r>
              <a:rPr lang="zh-CN" altLang="en-US" dirty="0">
                <a:solidFill>
                  <a:schemeClr val="bg1"/>
                </a:solidFill>
                <a:ea typeface="华文楷体" pitchFamily="2" charset="-122"/>
              </a:rPr>
              <a:t>设计与开发流程</a:t>
            </a:r>
            <a:endParaRPr lang="zh-CN" altLang="en-US" dirty="0">
              <a:solidFill>
                <a:schemeClr val="bg1"/>
              </a:solidFill>
              <a:ea typeface="华文楷体" pitchFamily="2" charset="-122"/>
            </a:endParaRPr>
          </a:p>
        </p:txBody>
      </p:sp>
      <p:sp>
        <p:nvSpPr>
          <p:cNvPr id="24" name="任意多边形 23"/>
          <p:cNvSpPr/>
          <p:nvPr/>
        </p:nvSpPr>
        <p:spPr>
          <a:xfrm>
            <a:off x="4819650" y="2613600"/>
            <a:ext cx="3400425" cy="893762"/>
          </a:xfrm>
          <a:custGeom>
            <a:avLst/>
            <a:gdLst>
              <a:gd name="connsiteX0" fmla="*/ 0 w 5803941"/>
              <a:gd name="connsiteY0" fmla="*/ 0 h 893013"/>
              <a:gd name="connsiteX1" fmla="*/ 5803941 w 5803941"/>
              <a:gd name="connsiteY1" fmla="*/ 0 h 893013"/>
              <a:gd name="connsiteX2" fmla="*/ 5803941 w 5803941"/>
              <a:gd name="connsiteY2" fmla="*/ 893013 h 893013"/>
              <a:gd name="connsiteX3" fmla="*/ 0 w 5803941"/>
              <a:gd name="connsiteY3" fmla="*/ 893013 h 893013"/>
              <a:gd name="connsiteX4" fmla="*/ 0 w 5803941"/>
              <a:gd name="connsiteY4" fmla="*/ 0 h 89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941" h="893013">
                <a:moveTo>
                  <a:pt x="0" y="0"/>
                </a:moveTo>
                <a:lnTo>
                  <a:pt x="5803941" y="0"/>
                </a:lnTo>
                <a:lnTo>
                  <a:pt x="5803941" y="893013"/>
                </a:lnTo>
                <a:lnTo>
                  <a:pt x="0" y="8930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38100" tIns="38100" rIns="38100" bIns="38100" spcCol="1270"/>
          <a:lstStyle/>
          <a:p>
            <a:pPr marL="0" lvl="1" indent="0" fontAlgn="auto">
              <a:lnSpc>
                <a:spcPct val="90000"/>
              </a:lnSpc>
              <a:spcAft>
                <a:spcPct val="15000"/>
              </a:spcAft>
              <a:buFontTx/>
              <a:buNone/>
              <a:defRPr/>
            </a:pPr>
            <a:r>
              <a:rPr lang="zh-CN" altLang="en-US" dirty="0">
                <a:solidFill>
                  <a:schemeClr val="tx1">
                    <a:lumMod val="75000"/>
                    <a:lumOff val="25000"/>
                  </a:schemeClr>
                </a:solidFill>
                <a:ea typeface="华文楷体" pitchFamily="2" charset="-122"/>
              </a:rPr>
              <a:t>通过本次毕设对于项目的确立，开发中的购置硬件，以及后期功能结合，有了全新的认识。</a:t>
            </a:r>
            <a:endParaRPr lang="zh-CN" altLang="en-US" dirty="0">
              <a:solidFill>
                <a:schemeClr val="tx1">
                  <a:lumMod val="75000"/>
                  <a:lumOff val="25000"/>
                </a:schemeClr>
              </a:solidFill>
              <a:ea typeface="华文楷体" pitchFamily="2" charset="-122"/>
            </a:endParaRPr>
          </a:p>
        </p:txBody>
      </p:sp>
      <p:sp>
        <p:nvSpPr>
          <p:cNvPr id="25" name="任意多边形 24"/>
          <p:cNvSpPr/>
          <p:nvPr/>
        </p:nvSpPr>
        <p:spPr>
          <a:xfrm>
            <a:off x="4879975" y="3436938"/>
            <a:ext cx="936000" cy="432000"/>
          </a:xfrm>
          <a:custGeom>
            <a:avLst/>
            <a:gdLst>
              <a:gd name="connsiteX0" fmla="*/ 74421 w 1509024"/>
              <a:gd name="connsiteY0" fmla="*/ 0 h 446439"/>
              <a:gd name="connsiteX1" fmla="*/ 1434603 w 1509024"/>
              <a:gd name="connsiteY1" fmla="*/ 0 h 446439"/>
              <a:gd name="connsiteX2" fmla="*/ 1509024 w 1509024"/>
              <a:gd name="connsiteY2" fmla="*/ 74421 h 446439"/>
              <a:gd name="connsiteX3" fmla="*/ 1509024 w 1509024"/>
              <a:gd name="connsiteY3" fmla="*/ 446439 h 446439"/>
              <a:gd name="connsiteX4" fmla="*/ 1509024 w 1509024"/>
              <a:gd name="connsiteY4" fmla="*/ 446439 h 446439"/>
              <a:gd name="connsiteX5" fmla="*/ 0 w 1509024"/>
              <a:gd name="connsiteY5" fmla="*/ 446439 h 446439"/>
              <a:gd name="connsiteX6" fmla="*/ 0 w 1509024"/>
              <a:gd name="connsiteY6" fmla="*/ 446439 h 446439"/>
              <a:gd name="connsiteX7" fmla="*/ 0 w 1509024"/>
              <a:gd name="connsiteY7" fmla="*/ 74421 h 446439"/>
              <a:gd name="connsiteX8" fmla="*/ 74421 w 1509024"/>
              <a:gd name="connsiteY8" fmla="*/ 0 h 44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024" h="446439">
                <a:moveTo>
                  <a:pt x="74421" y="0"/>
                </a:moveTo>
                <a:lnTo>
                  <a:pt x="1434603" y="0"/>
                </a:lnTo>
                <a:cubicBezTo>
                  <a:pt x="1475705" y="0"/>
                  <a:pt x="1509024" y="33319"/>
                  <a:pt x="1509024" y="74421"/>
                </a:cubicBezTo>
                <a:lnTo>
                  <a:pt x="1509024" y="446439"/>
                </a:lnTo>
                <a:lnTo>
                  <a:pt x="1509024" y="446439"/>
                </a:lnTo>
                <a:lnTo>
                  <a:pt x="0" y="446439"/>
                </a:lnTo>
                <a:lnTo>
                  <a:pt x="0" y="446439"/>
                </a:lnTo>
                <a:lnTo>
                  <a:pt x="0" y="74421"/>
                </a:lnTo>
                <a:cubicBezTo>
                  <a:pt x="0" y="33319"/>
                  <a:pt x="33319" y="0"/>
                  <a:pt x="74421" y="0"/>
                </a:cubicBezTo>
                <a:close/>
              </a:path>
            </a:pathLst>
          </a:custGeom>
          <a:solidFill>
            <a:srgbClr val="5C307D"/>
          </a:solidFill>
          <a:ln>
            <a:no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0" tIns="0" rIns="0" bIns="0" spcCol="1270" anchor="ctr"/>
          <a:lstStyle/>
          <a:p>
            <a:pPr fontAlgn="auto">
              <a:lnSpc>
                <a:spcPct val="90000"/>
              </a:lnSpc>
              <a:spcAft>
                <a:spcPct val="35000"/>
              </a:spcAft>
              <a:defRPr/>
            </a:pPr>
            <a:r>
              <a:rPr lang="zh-CN" altLang="en-US" dirty="0">
                <a:solidFill>
                  <a:schemeClr val="bg1"/>
                </a:solidFill>
                <a:ea typeface="华文楷体" pitchFamily="2" charset="-122"/>
              </a:rPr>
              <a:t>开发教训</a:t>
            </a:r>
            <a:endParaRPr lang="zh-CN" altLang="en-US" dirty="0">
              <a:solidFill>
                <a:schemeClr val="bg1"/>
              </a:solidFill>
              <a:ea typeface="华文楷体" pitchFamily="2" charset="-122"/>
            </a:endParaRPr>
          </a:p>
        </p:txBody>
      </p:sp>
      <p:sp>
        <p:nvSpPr>
          <p:cNvPr id="26" name="任意多边形 25"/>
          <p:cNvSpPr/>
          <p:nvPr/>
        </p:nvSpPr>
        <p:spPr>
          <a:xfrm>
            <a:off x="4819650" y="3978000"/>
            <a:ext cx="3400425" cy="893762"/>
          </a:xfrm>
          <a:custGeom>
            <a:avLst/>
            <a:gdLst>
              <a:gd name="connsiteX0" fmla="*/ 0 w 5803941"/>
              <a:gd name="connsiteY0" fmla="*/ 0 h 893013"/>
              <a:gd name="connsiteX1" fmla="*/ 5803941 w 5803941"/>
              <a:gd name="connsiteY1" fmla="*/ 0 h 893013"/>
              <a:gd name="connsiteX2" fmla="*/ 5803941 w 5803941"/>
              <a:gd name="connsiteY2" fmla="*/ 893013 h 893013"/>
              <a:gd name="connsiteX3" fmla="*/ 0 w 5803941"/>
              <a:gd name="connsiteY3" fmla="*/ 893013 h 893013"/>
              <a:gd name="connsiteX4" fmla="*/ 0 w 5803941"/>
              <a:gd name="connsiteY4" fmla="*/ 0 h 89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941" h="893013">
                <a:moveTo>
                  <a:pt x="0" y="0"/>
                </a:moveTo>
                <a:lnTo>
                  <a:pt x="5803941" y="0"/>
                </a:lnTo>
                <a:lnTo>
                  <a:pt x="5803941" y="893013"/>
                </a:lnTo>
                <a:lnTo>
                  <a:pt x="0" y="8930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38100" tIns="38100" rIns="38100" bIns="38100" spcCol="1270"/>
          <a:lstStyle/>
          <a:p>
            <a:pPr marL="0" lvl="1" indent="0" fontAlgn="auto">
              <a:lnSpc>
                <a:spcPct val="90000"/>
              </a:lnSpc>
              <a:spcAft>
                <a:spcPct val="15000"/>
              </a:spcAft>
              <a:buFontTx/>
              <a:buNone/>
              <a:defRPr/>
            </a:pPr>
            <a:r>
              <a:rPr lang="zh-CN" altLang="en-US" dirty="0">
                <a:solidFill>
                  <a:schemeClr val="tx1">
                    <a:lumMod val="75000"/>
                    <a:lumOff val="25000"/>
                  </a:schemeClr>
                </a:solidFill>
                <a:ea typeface="华文楷体" pitchFamily="2" charset="-122"/>
              </a:rPr>
              <a:t>本次毕设由于是第一次进行单片机项目开发，整个过程中犯了很多错误，包括零件购置、焊接等。</a:t>
            </a:r>
            <a:endParaRPr lang="zh-CN" altLang="en-US" dirty="0">
              <a:solidFill>
                <a:schemeClr val="tx1">
                  <a:lumMod val="75000"/>
                  <a:lumOff val="25000"/>
                </a:schemeClr>
              </a:solidFill>
              <a:ea typeface="华文楷体" pitchFamily="2" charset="-122"/>
            </a:endParaRPr>
          </a:p>
        </p:txBody>
      </p:sp>
      <p:sp>
        <p:nvSpPr>
          <p:cNvPr id="27" name="任意多边形 26"/>
          <p:cNvSpPr/>
          <p:nvPr/>
        </p:nvSpPr>
        <p:spPr>
          <a:xfrm>
            <a:off x="4879975" y="4799013"/>
            <a:ext cx="936000" cy="432000"/>
          </a:xfrm>
          <a:custGeom>
            <a:avLst/>
            <a:gdLst>
              <a:gd name="connsiteX0" fmla="*/ 74421 w 1509024"/>
              <a:gd name="connsiteY0" fmla="*/ 0 h 446439"/>
              <a:gd name="connsiteX1" fmla="*/ 1434603 w 1509024"/>
              <a:gd name="connsiteY1" fmla="*/ 0 h 446439"/>
              <a:gd name="connsiteX2" fmla="*/ 1509024 w 1509024"/>
              <a:gd name="connsiteY2" fmla="*/ 74421 h 446439"/>
              <a:gd name="connsiteX3" fmla="*/ 1509024 w 1509024"/>
              <a:gd name="connsiteY3" fmla="*/ 446439 h 446439"/>
              <a:gd name="connsiteX4" fmla="*/ 1509024 w 1509024"/>
              <a:gd name="connsiteY4" fmla="*/ 446439 h 446439"/>
              <a:gd name="connsiteX5" fmla="*/ 0 w 1509024"/>
              <a:gd name="connsiteY5" fmla="*/ 446439 h 446439"/>
              <a:gd name="connsiteX6" fmla="*/ 0 w 1509024"/>
              <a:gd name="connsiteY6" fmla="*/ 446439 h 446439"/>
              <a:gd name="connsiteX7" fmla="*/ 0 w 1509024"/>
              <a:gd name="connsiteY7" fmla="*/ 74421 h 446439"/>
              <a:gd name="connsiteX8" fmla="*/ 74421 w 1509024"/>
              <a:gd name="connsiteY8" fmla="*/ 0 h 44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9024" h="446439">
                <a:moveTo>
                  <a:pt x="74421" y="0"/>
                </a:moveTo>
                <a:lnTo>
                  <a:pt x="1434603" y="0"/>
                </a:lnTo>
                <a:cubicBezTo>
                  <a:pt x="1475705" y="0"/>
                  <a:pt x="1509024" y="33319"/>
                  <a:pt x="1509024" y="74421"/>
                </a:cubicBezTo>
                <a:lnTo>
                  <a:pt x="1509024" y="446439"/>
                </a:lnTo>
                <a:lnTo>
                  <a:pt x="1509024" y="446439"/>
                </a:lnTo>
                <a:lnTo>
                  <a:pt x="0" y="446439"/>
                </a:lnTo>
                <a:lnTo>
                  <a:pt x="0" y="446439"/>
                </a:lnTo>
                <a:lnTo>
                  <a:pt x="0" y="74421"/>
                </a:lnTo>
                <a:cubicBezTo>
                  <a:pt x="0" y="33319"/>
                  <a:pt x="33319" y="0"/>
                  <a:pt x="74421" y="0"/>
                </a:cubicBezTo>
                <a:close/>
              </a:path>
            </a:pathLst>
          </a:custGeom>
          <a:solidFill>
            <a:srgbClr val="5C307D"/>
          </a:solidFill>
          <a:ln>
            <a:noFill/>
          </a:ln>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lIns="0" tIns="0" rIns="0" bIns="0" spcCol="1270" anchor="ctr"/>
          <a:lstStyle/>
          <a:p>
            <a:pPr fontAlgn="auto">
              <a:lnSpc>
                <a:spcPct val="90000"/>
              </a:lnSpc>
              <a:spcAft>
                <a:spcPct val="35000"/>
              </a:spcAft>
              <a:defRPr/>
            </a:pPr>
            <a:r>
              <a:rPr lang="zh-CN" altLang="en-US" dirty="0">
                <a:solidFill>
                  <a:schemeClr val="bg1"/>
                </a:solidFill>
                <a:ea typeface="华文楷体" pitchFamily="2" charset="-122"/>
              </a:rPr>
              <a:t>经验总结</a:t>
            </a:r>
            <a:endParaRPr lang="zh-CN" altLang="en-US" dirty="0">
              <a:solidFill>
                <a:schemeClr val="bg1"/>
              </a:solidFill>
              <a:ea typeface="华文楷体" pitchFamily="2" charset="-122"/>
            </a:endParaRPr>
          </a:p>
        </p:txBody>
      </p:sp>
      <p:sp>
        <p:nvSpPr>
          <p:cNvPr id="28" name="任意多边形 27"/>
          <p:cNvSpPr/>
          <p:nvPr/>
        </p:nvSpPr>
        <p:spPr>
          <a:xfrm>
            <a:off x="4879975" y="5338800"/>
            <a:ext cx="3340100" cy="893762"/>
          </a:xfrm>
          <a:custGeom>
            <a:avLst/>
            <a:gdLst>
              <a:gd name="connsiteX0" fmla="*/ 0 w 5803941"/>
              <a:gd name="connsiteY0" fmla="*/ 0 h 893013"/>
              <a:gd name="connsiteX1" fmla="*/ 5803941 w 5803941"/>
              <a:gd name="connsiteY1" fmla="*/ 0 h 893013"/>
              <a:gd name="connsiteX2" fmla="*/ 5803941 w 5803941"/>
              <a:gd name="connsiteY2" fmla="*/ 893013 h 893013"/>
              <a:gd name="connsiteX3" fmla="*/ 0 w 5803941"/>
              <a:gd name="connsiteY3" fmla="*/ 893013 h 893013"/>
              <a:gd name="connsiteX4" fmla="*/ 0 w 5803941"/>
              <a:gd name="connsiteY4" fmla="*/ 0 h 893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3941" h="893013">
                <a:moveTo>
                  <a:pt x="0" y="0"/>
                </a:moveTo>
                <a:lnTo>
                  <a:pt x="5803941" y="0"/>
                </a:lnTo>
                <a:lnTo>
                  <a:pt x="5803941" y="893013"/>
                </a:lnTo>
                <a:lnTo>
                  <a:pt x="0" y="8930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38100" tIns="38100" rIns="38100" bIns="38100" spcCol="1270"/>
          <a:lstStyle/>
          <a:p>
            <a:pPr marL="0" lvl="1" indent="0" fontAlgn="auto">
              <a:lnSpc>
                <a:spcPct val="90000"/>
              </a:lnSpc>
              <a:spcAft>
                <a:spcPct val="15000"/>
              </a:spcAft>
              <a:buFontTx/>
              <a:buNone/>
              <a:defRPr/>
            </a:pPr>
            <a:r>
              <a:rPr lang="zh-CN" altLang="en-US" dirty="0">
                <a:solidFill>
                  <a:schemeClr val="tx1">
                    <a:lumMod val="75000"/>
                    <a:lumOff val="25000"/>
                  </a:schemeClr>
                </a:solidFill>
                <a:ea typeface="华文楷体" pitchFamily="2" charset="-122"/>
              </a:rPr>
              <a:t>对于项目的功能，以及开发中遇到的问题应该提前进行预估，不是等到发生后再去想办法解决。</a:t>
            </a:r>
            <a:endParaRPr lang="zh-CN" altLang="en-US" dirty="0">
              <a:solidFill>
                <a:schemeClr val="tx1">
                  <a:lumMod val="75000"/>
                  <a:lumOff val="25000"/>
                </a:schemeClr>
              </a:solidFill>
              <a:ea typeface="华文楷体" pitchFamily="2" charset="-122"/>
            </a:endParaRPr>
          </a:p>
        </p:txBody>
      </p:sp>
      <p:sp>
        <p:nvSpPr>
          <p:cNvPr id="31" name="TextBox 29"/>
          <p:cNvSpPr txBox="1"/>
          <p:nvPr/>
        </p:nvSpPr>
        <p:spPr>
          <a:xfrm>
            <a:off x="254000" y="2638425"/>
            <a:ext cx="4268788" cy="1297940"/>
          </a:xfrm>
          <a:prstGeom prst="rect">
            <a:avLst/>
          </a:prstGeom>
          <a:noFill/>
        </p:spPr>
        <p:txBody>
          <a:bodyPr>
            <a:spAutoFit/>
          </a:bodyPr>
          <a:lstStyle/>
          <a:p>
            <a:pPr fontAlgn="auto">
              <a:lnSpc>
                <a:spcPct val="110000"/>
              </a:lnSpc>
              <a:spcBef>
                <a:spcPts val="0"/>
              </a:spcBef>
              <a:spcAft>
                <a:spcPts val="0"/>
              </a:spcAft>
              <a:defRPr/>
            </a:pPr>
            <a:r>
              <a:rPr lang="zh-CN" altLang="en-US" dirty="0">
                <a:solidFill>
                  <a:schemeClr val="tx1">
                    <a:lumMod val="75000"/>
                    <a:lumOff val="25000"/>
                  </a:schemeClr>
                </a:solidFill>
                <a:latin typeface="+mn-lt"/>
                <a:ea typeface="华文楷体" pitchFamily="2" charset="-122"/>
                <a:sym typeface="+mn-ea"/>
              </a:rPr>
              <a:t>本次毕设完成后，收获非常多，例如对单片机项目开发设计流程的了解，自己开发时犯的错误，还有本次设计完成后的经验总结。</a:t>
            </a:r>
            <a:endParaRPr lang="zh-CN" altLang="en-US" dirty="0">
              <a:solidFill>
                <a:schemeClr val="tx1">
                  <a:lumMod val="75000"/>
                  <a:lumOff val="25000"/>
                </a:schemeClr>
              </a:solidFill>
              <a:latin typeface="+mn-lt"/>
              <a:ea typeface="华文楷体" pitchFamily="2" charset="-122"/>
            </a:endParaRPr>
          </a:p>
        </p:txBody>
      </p:sp>
      <p:cxnSp>
        <p:nvCxnSpPr>
          <p:cNvPr id="5" name="直接连接符 4"/>
          <p:cNvCxnSpPr/>
          <p:nvPr/>
        </p:nvCxnSpPr>
        <p:spPr>
          <a:xfrm>
            <a:off x="382588" y="5953125"/>
            <a:ext cx="3998912"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4" name="TextBox 30"/>
          <p:cNvSpPr txBox="1"/>
          <p:nvPr/>
        </p:nvSpPr>
        <p:spPr>
          <a:xfrm>
            <a:off x="687070" y="2100580"/>
            <a:ext cx="3596640" cy="457200"/>
          </a:xfrm>
          <a:prstGeom prst="rect">
            <a:avLst/>
          </a:prstGeom>
          <a:noFill/>
          <a:ln>
            <a:noFill/>
          </a:ln>
        </p:spPr>
        <p:txBody>
          <a:bodyPr wrap="square">
            <a:spAutoFit/>
          </a:bodyPr>
          <a:lstStyle/>
          <a:p>
            <a:pPr fontAlgn="auto">
              <a:spcBef>
                <a:spcPts val="0"/>
              </a:spcBef>
              <a:spcAft>
                <a:spcPts val="0"/>
              </a:spcAft>
              <a:defRPr/>
            </a:pPr>
            <a:r>
              <a:rPr lang="zh-CN" altLang="en-US" sz="2400" b="1" dirty="0">
                <a:solidFill>
                  <a:schemeClr val="tx1">
                    <a:lumMod val="75000"/>
                    <a:lumOff val="25000"/>
                  </a:schemeClr>
                </a:solidFill>
                <a:latin typeface="+mn-lt"/>
                <a:ea typeface="华文楷体" pitchFamily="2" charset="-122"/>
              </a:rPr>
              <a:t>研究结论</a:t>
            </a:r>
            <a:endParaRPr lang="zh-CN" altLang="en-US" sz="2400" b="1" dirty="0">
              <a:solidFill>
                <a:schemeClr val="tx1">
                  <a:lumMod val="75000"/>
                  <a:lumOff val="25000"/>
                </a:schemeClr>
              </a:solidFill>
              <a:latin typeface="+mn-lt"/>
              <a:ea typeface="华文楷体" pitchFamily="2" charset="-122"/>
            </a:endParaRPr>
          </a:p>
        </p:txBody>
      </p:sp>
      <p:sp>
        <p:nvSpPr>
          <p:cNvPr id="36" name="矩形 35"/>
          <p:cNvSpPr/>
          <p:nvPr/>
        </p:nvSpPr>
        <p:spPr>
          <a:xfrm>
            <a:off x="382588" y="2173288"/>
            <a:ext cx="269875" cy="269875"/>
          </a:xfrm>
          <a:prstGeom prst="rect">
            <a:avLst/>
          </a:prstGeom>
          <a:gradFill>
            <a:gsLst>
              <a:gs pos="0">
                <a:srgbClr val="7B32B2"/>
              </a:gs>
              <a:gs pos="100000">
                <a:srgbClr val="401A5D"/>
              </a:gs>
            </a:gsLst>
            <a:lin ang="5400000" scaled="0"/>
          </a:gradFill>
          <a:ln>
            <a:solidFill>
              <a:srgbClr val="5C307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文本框 1"/>
          <p:cNvSpPr txBox="1"/>
          <p:nvPr/>
        </p:nvSpPr>
        <p:spPr>
          <a:xfrm>
            <a:off x="395605" y="260985"/>
            <a:ext cx="4320000" cy="720000"/>
          </a:xfrm>
          <a:prstGeom prst="rect">
            <a:avLst/>
          </a:prstGeom>
          <a:noFill/>
        </p:spPr>
        <p:txBody>
          <a:bodyPr wrap="square" rtlCol="0">
            <a:spAutoFit/>
          </a:bodyPr>
          <a:p>
            <a:r>
              <a:rPr lang="zh-CN" altLang="en-US" sz="3600" i="1">
                <a:latin typeface="楷体" charset="0"/>
                <a:ea typeface="楷体" charset="0"/>
              </a:rPr>
              <a:t>辽宁工程技术大学</a:t>
            </a:r>
            <a:endParaRPr lang="zh-CN" altLang="en-US" sz="3600" i="1">
              <a:latin typeface="楷体" charset="0"/>
              <a:ea typeface="楷体"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2065" y="-12700"/>
            <a:ext cx="9144000" cy="3654425"/>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TextBox 5"/>
          <p:cNvSpPr txBox="1"/>
          <p:nvPr/>
        </p:nvSpPr>
        <p:spPr>
          <a:xfrm>
            <a:off x="3291205" y="4292918"/>
            <a:ext cx="5676900" cy="1188720"/>
          </a:xfrm>
          <a:prstGeom prst="rect">
            <a:avLst/>
          </a:prstGeom>
          <a:noFill/>
        </p:spPr>
        <p:txBody>
          <a:bodyPr wrap="none">
            <a:spAutoFit/>
          </a:bodyPr>
          <a:lstStyle/>
          <a:p>
            <a:pPr algn="r" fontAlgn="auto">
              <a:spcBef>
                <a:spcPts val="0"/>
              </a:spcBef>
              <a:spcAft>
                <a:spcPts val="0"/>
              </a:spcAft>
              <a:defRPr/>
            </a:pPr>
            <a:r>
              <a:rPr lang="zh-CN" sz="7200" b="1" dirty="0">
                <a:solidFill>
                  <a:schemeClr val="tx1">
                    <a:lumMod val="75000"/>
                    <a:lumOff val="25000"/>
                  </a:schemeClr>
                </a:solidFill>
                <a:latin typeface="华文楷体" pitchFamily="2" charset="-122"/>
                <a:ea typeface="华文楷体" pitchFamily="2" charset="-122"/>
              </a:rPr>
              <a:t>谢谢各位老师</a:t>
            </a:r>
            <a:endParaRPr lang="zh-CN" sz="7200" b="1" dirty="0">
              <a:solidFill>
                <a:schemeClr val="tx1">
                  <a:lumMod val="75000"/>
                  <a:lumOff val="25000"/>
                </a:schemeClr>
              </a:solidFill>
              <a:latin typeface="华文楷体" pitchFamily="2" charset="-122"/>
              <a:ea typeface="华文楷体" pitchFamily="2" charset="-122"/>
            </a:endParaRPr>
          </a:p>
        </p:txBody>
      </p:sp>
      <p:sp>
        <p:nvSpPr>
          <p:cNvPr id="10" name="矩形 9"/>
          <p:cNvSpPr/>
          <p:nvPr/>
        </p:nvSpPr>
        <p:spPr>
          <a:xfrm>
            <a:off x="163513" y="6210300"/>
            <a:ext cx="423862" cy="423863"/>
          </a:xfrm>
          <a:prstGeom prst="rect">
            <a:avLst/>
          </a:prstGeom>
          <a:solidFill>
            <a:srgbClr val="5C307D"/>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8" name="TextBox 90"/>
          <p:cNvSpPr txBox="1"/>
          <p:nvPr/>
        </p:nvSpPr>
        <p:spPr>
          <a:xfrm>
            <a:off x="1139825" y="5888038"/>
            <a:ext cx="7731125" cy="877570"/>
          </a:xfrm>
          <a:prstGeom prst="rect">
            <a:avLst/>
          </a:prstGeom>
          <a:noFill/>
        </p:spPr>
        <p:txBody>
          <a:bodyPr lIns="0" tIns="0" rIns="0" bIns="0">
            <a:spAutoFit/>
          </a:bodyPr>
          <a:lstStyle/>
          <a:p>
            <a:pPr algn="r" fontAlgn="auto">
              <a:lnSpc>
                <a:spcPct val="120000"/>
              </a:lnSpc>
              <a:spcBef>
                <a:spcPts val="0"/>
              </a:spcBef>
              <a:spcAft>
                <a:spcPts val="0"/>
              </a:spcAft>
              <a:defRPr/>
            </a:pPr>
            <a:r>
              <a:rPr lang="zh-CN" sz="2400" dirty="0">
                <a:solidFill>
                  <a:schemeClr val="tx1">
                    <a:lumMod val="75000"/>
                    <a:lumOff val="25000"/>
                  </a:schemeClr>
                </a:solidFill>
                <a:latin typeface="华文楷体" pitchFamily="2" charset="-122"/>
                <a:ea typeface="华文楷体" pitchFamily="2" charset="-122"/>
              </a:rPr>
              <a:t>软件学院</a:t>
            </a:r>
            <a:r>
              <a:rPr lang="en-US" altLang="zh-CN" sz="2400" dirty="0">
                <a:solidFill>
                  <a:schemeClr val="tx1">
                    <a:lumMod val="75000"/>
                    <a:lumOff val="25000"/>
                  </a:schemeClr>
                </a:solidFill>
                <a:latin typeface="华文楷体" pitchFamily="2" charset="-122"/>
                <a:ea typeface="华文楷体" pitchFamily="2" charset="-122"/>
              </a:rPr>
              <a:t>——</a:t>
            </a:r>
            <a:r>
              <a:rPr lang="zh-CN" altLang="en-US" sz="2400" dirty="0">
                <a:solidFill>
                  <a:schemeClr val="tx1">
                    <a:lumMod val="75000"/>
                    <a:lumOff val="25000"/>
                  </a:schemeClr>
                </a:solidFill>
                <a:latin typeface="华文楷体" pitchFamily="2" charset="-122"/>
                <a:ea typeface="华文楷体" pitchFamily="2" charset="-122"/>
              </a:rPr>
              <a:t>嵌软</a:t>
            </a:r>
            <a:r>
              <a:rPr lang="en-US" altLang="zh-CN" sz="2400" dirty="0">
                <a:solidFill>
                  <a:schemeClr val="tx1">
                    <a:lumMod val="75000"/>
                    <a:lumOff val="25000"/>
                  </a:schemeClr>
                </a:solidFill>
                <a:latin typeface="华文楷体" pitchFamily="2" charset="-122"/>
                <a:ea typeface="华文楷体" pitchFamily="2" charset="-122"/>
              </a:rPr>
              <a:t>12</a:t>
            </a:r>
            <a:r>
              <a:rPr lang="zh-CN" altLang="en-US" sz="2400" dirty="0">
                <a:solidFill>
                  <a:schemeClr val="tx1">
                    <a:lumMod val="75000"/>
                    <a:lumOff val="25000"/>
                  </a:schemeClr>
                </a:solidFill>
                <a:latin typeface="华文楷体" pitchFamily="2" charset="-122"/>
                <a:ea typeface="华文楷体" pitchFamily="2" charset="-122"/>
              </a:rPr>
              <a:t>级</a:t>
            </a:r>
            <a:r>
              <a:rPr lang="en-US" altLang="zh-CN" sz="2400" dirty="0">
                <a:solidFill>
                  <a:schemeClr val="tx1">
                    <a:lumMod val="75000"/>
                    <a:lumOff val="25000"/>
                  </a:schemeClr>
                </a:solidFill>
                <a:latin typeface="华文楷体" pitchFamily="2" charset="-122"/>
                <a:ea typeface="华文楷体" pitchFamily="2" charset="-122"/>
              </a:rPr>
              <a:t>1</a:t>
            </a:r>
            <a:r>
              <a:rPr lang="zh-CN" altLang="en-US" sz="2400" dirty="0">
                <a:solidFill>
                  <a:schemeClr val="tx1">
                    <a:lumMod val="75000"/>
                    <a:lumOff val="25000"/>
                  </a:schemeClr>
                </a:solidFill>
                <a:latin typeface="华文楷体" pitchFamily="2" charset="-122"/>
                <a:ea typeface="华文楷体" pitchFamily="2" charset="-122"/>
              </a:rPr>
              <a:t>班</a:t>
            </a:r>
            <a:endParaRPr lang="zh-CN" altLang="en-US" sz="2400" dirty="0">
              <a:solidFill>
                <a:schemeClr val="tx1">
                  <a:lumMod val="75000"/>
                  <a:lumOff val="25000"/>
                </a:schemeClr>
              </a:solidFill>
              <a:latin typeface="华文楷体" pitchFamily="2" charset="-122"/>
              <a:ea typeface="华文楷体" pitchFamily="2" charset="-122"/>
            </a:endParaRPr>
          </a:p>
          <a:p>
            <a:pPr algn="r" fontAlgn="auto">
              <a:lnSpc>
                <a:spcPct val="120000"/>
              </a:lnSpc>
              <a:spcBef>
                <a:spcPts val="0"/>
              </a:spcBef>
              <a:spcAft>
                <a:spcPts val="0"/>
              </a:spcAft>
              <a:defRPr/>
            </a:pPr>
            <a:r>
              <a:rPr lang="zh-CN" altLang="en-US" sz="2400" dirty="0">
                <a:solidFill>
                  <a:schemeClr val="tx1">
                    <a:lumMod val="75000"/>
                    <a:lumOff val="25000"/>
                  </a:schemeClr>
                </a:solidFill>
                <a:latin typeface="华文楷体" pitchFamily="2" charset="-122"/>
                <a:ea typeface="华文楷体" pitchFamily="2" charset="-122"/>
              </a:rPr>
              <a:t>指导老师</a:t>
            </a:r>
            <a:r>
              <a:rPr lang="en-US" altLang="zh-CN" sz="2400" dirty="0">
                <a:solidFill>
                  <a:schemeClr val="tx1">
                    <a:lumMod val="75000"/>
                    <a:lumOff val="25000"/>
                  </a:schemeClr>
                </a:solidFill>
                <a:latin typeface="华文楷体" pitchFamily="2" charset="-122"/>
                <a:ea typeface="华文楷体" pitchFamily="2" charset="-122"/>
              </a:rPr>
              <a:t>——</a:t>
            </a:r>
            <a:r>
              <a:rPr lang="zh-CN" altLang="en-US" sz="2400" dirty="0">
                <a:solidFill>
                  <a:schemeClr val="tx1">
                    <a:lumMod val="75000"/>
                    <a:lumOff val="25000"/>
                  </a:schemeClr>
                </a:solidFill>
                <a:latin typeface="华文楷体" pitchFamily="2" charset="-122"/>
                <a:ea typeface="华文楷体" pitchFamily="2" charset="-122"/>
              </a:rPr>
              <a:t>刘万军</a:t>
            </a:r>
            <a:endParaRPr lang="zh-CN" altLang="en-US" sz="2400" dirty="0">
              <a:solidFill>
                <a:schemeClr val="tx1">
                  <a:lumMod val="75000"/>
                  <a:lumOff val="25000"/>
                </a:schemeClr>
              </a:solidFill>
              <a:latin typeface="华文楷体" pitchFamily="2" charset="-122"/>
              <a:ea typeface="华文楷体" pitchFamily="2" charset="-122"/>
            </a:endParaRPr>
          </a:p>
        </p:txBody>
      </p:sp>
      <p:cxnSp>
        <p:nvCxnSpPr>
          <p:cNvPr id="7" name="直接连接符 6"/>
          <p:cNvCxnSpPr/>
          <p:nvPr/>
        </p:nvCxnSpPr>
        <p:spPr>
          <a:xfrm>
            <a:off x="163513" y="6627813"/>
            <a:ext cx="4408487"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4344" name="组合 27"/>
          <p:cNvGrpSpPr/>
          <p:nvPr/>
        </p:nvGrpSpPr>
        <p:grpSpPr bwMode="auto">
          <a:xfrm>
            <a:off x="0" y="3770313"/>
            <a:ext cx="9144000" cy="57150"/>
            <a:chOff x="30834" y="1305568"/>
            <a:chExt cx="8816454" cy="66133"/>
          </a:xfrm>
        </p:grpSpPr>
        <p:sp>
          <p:nvSpPr>
            <p:cNvPr id="29" name="矩形 28"/>
            <p:cNvSpPr/>
            <p:nvPr/>
          </p:nvSpPr>
          <p:spPr>
            <a:xfrm>
              <a:off x="30834" y="1305568"/>
              <a:ext cx="5799574" cy="66133"/>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0" name="矩形 29"/>
            <p:cNvSpPr/>
            <p:nvPr/>
          </p:nvSpPr>
          <p:spPr>
            <a:xfrm>
              <a:off x="5887041" y="1305568"/>
              <a:ext cx="2960247" cy="66133"/>
            </a:xfrm>
            <a:prstGeom prst="rect">
              <a:avLst/>
            </a:prstGeom>
            <a:solidFill>
              <a:srgbClr val="5C30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8" name="文本框 7"/>
          <p:cNvSpPr txBox="1"/>
          <p:nvPr/>
        </p:nvSpPr>
        <p:spPr>
          <a:xfrm>
            <a:off x="784860" y="786765"/>
            <a:ext cx="4320000" cy="720000"/>
          </a:xfrm>
          <a:prstGeom prst="rect">
            <a:avLst/>
          </a:prstGeom>
          <a:noFill/>
        </p:spPr>
        <p:txBody>
          <a:bodyPr wrap="square" rtlCol="0">
            <a:spAutoFit/>
          </a:bodyPr>
          <a:p>
            <a:r>
              <a:rPr lang="zh-CN" altLang="en-US" sz="3600" i="1">
                <a:solidFill>
                  <a:schemeClr val="bg1"/>
                </a:solidFill>
                <a:uFillTx/>
                <a:latin typeface="楷体" charset="0"/>
                <a:ea typeface="楷体" charset="0"/>
              </a:rPr>
              <a:t>辽宁工程技术大学</a:t>
            </a:r>
            <a:endParaRPr lang="zh-CN" altLang="en-US" sz="3600" i="1">
              <a:solidFill>
                <a:schemeClr val="bg1"/>
              </a:solidFill>
              <a:uFillTx/>
              <a:latin typeface="楷体" charset="0"/>
              <a:ea typeface="楷体"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1430</Words>
  <Application>WPS 演示</Application>
  <PresentationFormat>全屏显示(4:3)</PresentationFormat>
  <Paragraphs>263</Paragraphs>
  <Slides>11</Slides>
  <Notes>0</Notes>
  <HiddenSlides>0</HiddenSlides>
  <MMClips>0</MMClips>
  <ScaleCrop>false</ScaleCrop>
  <HeadingPairs>
    <vt:vector size="4" baseType="variant">
      <vt:variant>
        <vt:lpstr>主题</vt:lpstr>
      </vt:variant>
      <vt:variant>
        <vt:i4>1</vt:i4>
      </vt:variant>
      <vt:variant>
        <vt:lpstr>幻灯片标题</vt:lpstr>
      </vt:variant>
      <vt:variant>
        <vt:i4>11</vt:i4>
      </vt:variant>
    </vt:vector>
  </HeadingPairs>
  <TitlesOfParts>
    <vt:vector size="12"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Administrator</cp:lastModifiedBy>
  <cp:revision>72</cp:revision>
  <dcterms:created xsi:type="dcterms:W3CDTF">2014-08-08T13:32:00Z</dcterms:created>
  <dcterms:modified xsi:type="dcterms:W3CDTF">2016-06-19T08:42:59Z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2052-10.1.0.5745</vt:lpwstr>
  </property>
</Properties>
</file>